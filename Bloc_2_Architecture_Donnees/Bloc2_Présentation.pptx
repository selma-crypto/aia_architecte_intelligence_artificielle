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jymzXe//LJP0QyL15wEojC8t81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F636C6-387F-483B-B9B2-7DB5B0A3354A}">
  <a:tblStyle styleId="{41F636C6-387F-483B-B9B2-7DB5B0A335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“Voici l’architecture complète que j’ai conçue pour Stripe.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Elle part à gauche des </a:t>
            </a:r>
            <a:r>
              <a:rPr b="1" lang="fr"/>
              <a:t>systèmes de capture de données</a:t>
            </a:r>
            <a:r>
              <a:rPr lang="fr"/>
              <a:t>.</a:t>
            </a:r>
            <a:br>
              <a:rPr lang="fr"/>
            </a:br>
            <a:r>
              <a:rPr lang="fr"/>
              <a:t>D’un côté, la base </a:t>
            </a:r>
            <a:r>
              <a:rPr b="1" lang="fr"/>
              <a:t>PostgreSQL OLTP</a:t>
            </a:r>
            <a:r>
              <a:rPr lang="fr"/>
              <a:t>, qui centralise les données structurées : transactions, abonnements et factures.</a:t>
            </a:r>
            <a:br>
              <a:rPr lang="fr"/>
            </a:br>
            <a:r>
              <a:rPr lang="fr"/>
              <a:t>De l’autre, la base </a:t>
            </a:r>
            <a:r>
              <a:rPr b="1" lang="fr"/>
              <a:t>MongoDB NoSQL</a:t>
            </a:r>
            <a:r>
              <a:rPr lang="fr"/>
              <a:t>, qui stocke les données semi-structurées comme les logs de sessions ou les signaux de fraude.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Ces deux sources alimentent ensuite la zone centrale : </a:t>
            </a:r>
            <a:r>
              <a:rPr b="1" lang="fr"/>
              <a:t>les pipelines d’intégration hybrides</a:t>
            </a:r>
            <a:r>
              <a:rPr lang="fr"/>
              <a:t>.</a:t>
            </a:r>
            <a:br>
              <a:rPr lang="fr"/>
            </a:br>
            <a:r>
              <a:rPr lang="fr"/>
              <a:t>On y retrouve deux types de flux :</a:t>
            </a:r>
            <a:br>
              <a:rPr lang="fr"/>
            </a:br>
            <a:r>
              <a:rPr lang="fr"/>
              <a:t>– d’abord un </a:t>
            </a:r>
            <a:r>
              <a:rPr b="1" lang="fr"/>
              <a:t>pipeline batch</a:t>
            </a:r>
            <a:r>
              <a:rPr lang="fr"/>
              <a:t>, orchestré par Airflow et dbt, qui réalise des chargements réguliers vers l’entrepôt de données analytique,</a:t>
            </a:r>
            <a:br>
              <a:rPr lang="fr"/>
            </a:br>
            <a:r>
              <a:rPr lang="fr"/>
              <a:t>– et en parallèle, un </a:t>
            </a:r>
            <a:r>
              <a:rPr b="1" lang="fr"/>
              <a:t>pipeline temps réel</a:t>
            </a:r>
            <a:r>
              <a:rPr lang="fr"/>
              <a:t>, géré par Kafka et Debezium, qui diffuse instantanément les événements vers MongoDB et la couche Machine Learning.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Ces pipelines garantissent la </a:t>
            </a:r>
            <a:r>
              <a:rPr b="1" lang="fr"/>
              <a:t>continuité entre les systèmes transactionnels et les outils d’analyse et d’IA</a:t>
            </a:r>
            <a:r>
              <a:rPr lang="fr"/>
              <a:t>.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Au centre-droit, on trouve le </a:t>
            </a:r>
            <a:r>
              <a:rPr b="1" lang="fr"/>
              <a:t>Data Warehouse OLAP</a:t>
            </a:r>
            <a:r>
              <a:rPr lang="fr"/>
              <a:t>, basé sur Snowflake ou PostgreSQL DW.</a:t>
            </a:r>
            <a:br>
              <a:rPr lang="fr"/>
            </a:br>
            <a:r>
              <a:rPr lang="fr"/>
              <a:t>Il repose sur un modèle en étoile, avec une table de faits fact_transactions et six dimensions pour croiser les analyses par client, plan, moyen de paiement ou période.</a:t>
            </a:r>
            <a:br>
              <a:rPr lang="fr"/>
            </a:br>
            <a:r>
              <a:rPr lang="fr"/>
              <a:t>C’est ici qu’on exécute les requêtes analytiques, les agrégations et le suivi des indicateurs de performance.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Enfin, la partie droite de l’architecture intègre la </a:t>
            </a:r>
            <a:r>
              <a:rPr b="1" lang="fr"/>
              <a:t>couche d’intelligence et de restitution</a:t>
            </a:r>
            <a:r>
              <a:rPr lang="fr"/>
              <a:t> :</a:t>
            </a:r>
            <a:br>
              <a:rPr lang="fr"/>
            </a:br>
            <a:r>
              <a:rPr lang="fr"/>
              <a:t>– la partie </a:t>
            </a:r>
            <a:r>
              <a:rPr b="1" lang="fr"/>
              <a:t>Machine Learning</a:t>
            </a:r>
            <a:r>
              <a:rPr lang="fr"/>
              <a:t>, avec scikit-learn et MLflow, dédiée à la détection de fraude et à la prédiction de churn,</a:t>
            </a:r>
            <a:br>
              <a:rPr lang="fr"/>
            </a:br>
            <a:r>
              <a:rPr lang="fr"/>
              <a:t>– et la partie </a:t>
            </a:r>
            <a:r>
              <a:rPr b="1" lang="fr"/>
              <a:t>visualisation</a:t>
            </a:r>
            <a:r>
              <a:rPr lang="fr"/>
              <a:t>, qui expose les résultats dans Power BI et Streamlit, pour suivre les revenus, le DSO et les scores de fraude en temps réel.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Cette architecture offre donc à Stripe une </a:t>
            </a:r>
            <a:r>
              <a:rPr b="1" lang="fr"/>
              <a:t>vision 360° unifiée</a:t>
            </a:r>
            <a:r>
              <a:rPr lang="fr"/>
              <a:t>, capable de relier la donnée opérationnelle, analytique et prédictive, tout en garantissant la conformité et la performance à grande échelle.”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“Concrètement, cette architecture a donné naissance à trois environnements complets : un système OLTP pour les transactions, un entrepôt OLAP pour l’analyse, et une base NoSQL pour les données semi-structurées.</a:t>
            </a:r>
            <a:br>
              <a:rPr lang="fr"/>
            </a:br>
            <a:r>
              <a:rPr lang="fr"/>
              <a:t>Les flux batch et temps réel assurent la cohérence entre ces systèmes.</a:t>
            </a:r>
            <a:br>
              <a:rPr lang="fr"/>
            </a:br>
            <a:r>
              <a:rPr lang="fr"/>
              <a:t>J’ai également produit des requêtes analytiques avancées, permettant de suivre les revenus, les taux de succès ou les délais de paiement, ainsi que des requêtes NoSQL pour repérer les comportements suspects.</a:t>
            </a:r>
            <a:br>
              <a:rPr lang="fr"/>
            </a:br>
            <a:r>
              <a:rPr lang="fr"/>
              <a:t>Enfin, une couche Machine Learning et des tableaux de bord interactifs rendent ces données exploitables en temps réel, dans un cadre conforme et évolutif.”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“Pour la suite, l’objectif est d’industrialiser cette architecture sur un cloud managé comme AWS ou GCP.</a:t>
            </a:r>
            <a:br>
              <a:rPr lang="fr"/>
            </a:br>
            <a:r>
              <a:rPr lang="fr"/>
              <a:t>Les flux seraient automatisés grâce à Airflow et dbt Cloud, garantissant une orchestration fiable et transparente.</a:t>
            </a:r>
            <a:br>
              <a:rPr lang="fr"/>
            </a:br>
            <a:r>
              <a:rPr lang="fr"/>
              <a:t>La partie Machine Learning serait enrichie avec d’autres modèles — par exemple pour le churn ou la segmentation client.</a:t>
            </a:r>
            <a:br>
              <a:rPr lang="fr"/>
            </a:br>
            <a:r>
              <a:rPr lang="fr"/>
              <a:t>L’ensemble serait surveillé en continu, avec détection automatique des dérives et déclenchement de décisions en cas de fraude.</a:t>
            </a:r>
            <a:br>
              <a:rPr lang="fr"/>
            </a:br>
            <a:r>
              <a:rPr lang="fr"/>
              <a:t>Côté gouvernance, la création d’un Data Catalog et la documentation des métadonnées assureraient la conformité et la traçabilité.</a:t>
            </a:r>
            <a:br>
              <a:rPr lang="fr"/>
            </a:br>
            <a:r>
              <a:rPr lang="fr"/>
              <a:t>Enfin, l’entrepôt OLAP pourrait intégrer des données comportementales issues du NoSQL, avec un monitoring global et des tests automatisés pour fiabiliser la chaîne de bout en bout.”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2 – Architecture données</a:t>
            </a:r>
            <a:b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i="1"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Stripe project</a:t>
            </a:r>
            <a:endParaRPr i="1"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fr" sz="1600"/>
              <a:t>‹#›</a:t>
            </a:fld>
            <a:endParaRPr b="1" sz="1600"/>
          </a:p>
        </p:txBody>
      </p:sp>
      <p:sp>
        <p:nvSpPr>
          <p:cNvPr id="103" name="Google Shape;103;p1"/>
          <p:cNvSpPr/>
          <p:nvPr/>
        </p:nvSpPr>
        <p:spPr>
          <a:xfrm>
            <a:off x="401684" y="4297514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AIA - Groupe 3 - Février 2026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ipe Payments | Solutions de paiement tout-en-un" id="108" name="Google Shape;108;p2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idx="4294967295" type="ctrTitle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Construire une architecture de données intégrée pour Stripe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0" name="Google Shape;110;p2"/>
          <p:cNvSpPr txBox="1"/>
          <p:nvPr>
            <p:ph idx="4294967295" type="ctrTitle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Une donnée en plein expansion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Stripe traite des milliards de transactions dans 100+ pays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 données multiples : paiements, abonnements, logs, détection de fraude…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Une complexité croissante : volumes, hétérogénéité, conformité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 systèmes encore cloisonnés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OLTP, OLAP et NoSQL fonctionnent en silos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Difficulté à croiser les données transactionnelles et comportementales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Objectif de fluidifier les échanges et unifier les pipelines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Vers une architecture intégrée et temps réel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Construire un pipeline unifié (batch + streaming)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Garantir rapidité, fiabilité et analyse instantanée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Supporter fraude, analytique et pilotage client dans un même écosystème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6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b="0" i="0" sz="16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 rot="-355994">
            <a:off x="566300" y="231863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 rot="-355994">
            <a:off x="566301" y="3164123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472458" y="47498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fr" sz="1600"/>
              <a:t>‹#›</a:t>
            </a:fld>
            <a:endParaRPr b="1" sz="1600"/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90" y="4806720"/>
            <a:ext cx="671542" cy="27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/>
          <p:nvPr/>
        </p:nvSpPr>
        <p:spPr>
          <a:xfrm rot="-355994">
            <a:off x="602322" y="1392014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472458" y="47498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fr" sz="1600"/>
              <a:t>‹#›</a:t>
            </a:fld>
            <a:endParaRPr b="1" sz="1600"/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90" y="4806720"/>
            <a:ext cx="671542" cy="279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351" y="216715"/>
            <a:ext cx="7770685" cy="43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ipe Payments | Solutions de paiement tout-en-un" id="131" name="Google Shape;131;p4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>
            <p:ph idx="4294967295" type="ctrTitle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 écosystème data unifié et opérationnel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>
            <p:ph idx="12" type="sldNum"/>
          </p:nvPr>
        </p:nvSpPr>
        <p:spPr>
          <a:xfrm>
            <a:off x="8472458" y="47498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fr" sz="1600"/>
              <a:t>‹#›</a:t>
            </a:fld>
            <a:endParaRPr b="1" sz="1600"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90" y="4806720"/>
            <a:ext cx="671542" cy="2798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4"/>
          <p:cNvGraphicFramePr/>
          <p:nvPr/>
        </p:nvGraphicFramePr>
        <p:xfrm>
          <a:off x="32004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{41F636C6-387F-483B-B9B2-7DB5B0A3354A}</a:tableStyleId>
              </a:tblPr>
              <a:tblGrid>
                <a:gridCol w="1325875"/>
                <a:gridCol w="1645925"/>
                <a:gridCol w="3840475"/>
                <a:gridCol w="1691650"/>
              </a:tblGrid>
              <a:tr h="51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50" u="none" cap="none" strike="noStrike">
                          <a:solidFill>
                            <a:srgbClr val="FFFFFF"/>
                          </a:solidFill>
                        </a:rPr>
                        <a:t>Catégorie</a:t>
                      </a:r>
                      <a:endParaRPr/>
                    </a:p>
                  </a:txBody>
                  <a:tcPr marT="60950" marB="60950" marR="91450" marL="91450">
                    <a:lnL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4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50" u="none" cap="none" strike="noStrike">
                          <a:solidFill>
                            <a:srgbClr val="FFFFFF"/>
                          </a:solidFill>
                        </a:rPr>
                        <a:t>Technologie(s)</a:t>
                      </a:r>
                      <a:endParaRPr/>
                    </a:p>
                  </a:txBody>
                  <a:tcPr marT="60950" marB="60950" marR="91450" marL="91450">
                    <a:lnL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4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50" u="none" cap="none" strike="noStrike">
                          <a:solidFill>
                            <a:srgbClr val="FFFFFF"/>
                          </a:solidFill>
                        </a:rPr>
                        <a:t>Détail</a:t>
                      </a:r>
                      <a:endParaRPr/>
                    </a:p>
                  </a:txBody>
                  <a:tcPr marT="60950" marB="60950" marR="91450" marL="91450">
                    <a:lnL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4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50" u="none" cap="none" strike="noStrike">
                          <a:solidFill>
                            <a:srgbClr val="FFFFFF"/>
                          </a:solidFill>
                        </a:rPr>
                        <a:t>Impact</a:t>
                      </a:r>
                      <a:endParaRPr/>
                    </a:p>
                  </a:txBody>
                  <a:tcPr marT="60950" marB="60950" marR="91450" marL="91450">
                    <a:lnL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729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449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50" u="none" cap="none" strike="noStrike">
                          <a:solidFill>
                            <a:srgbClr val="FFFFFF"/>
                          </a:solidFill>
                        </a:rPr>
                        <a:t>Modélisation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PostgreSQL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BigQuery / S3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MongoDB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OLTP normalisé 3NF · Star schema OLAP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· Document NoSQL schéma flexible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3 environnements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fonctionnels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50" u="none" cap="none" strike="noStrike">
                          <a:solidFill>
                            <a:srgbClr val="FFFFFF"/>
                          </a:solidFill>
                        </a:rPr>
                        <a:t>Pipeline Batch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Airflow + dbt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DAGs orchestrent l'extraction OLTP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Transformations SQL dbt → BigQuery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Batchs quotidiens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automatisés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50" u="none" cap="none" strike="noStrike">
                          <a:solidFill>
                            <a:srgbClr val="FFFFFF"/>
                          </a:solidFill>
                        </a:rPr>
                        <a:t>Pipeline Streaming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Kafka + Debezium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CDC WAL PostgreSQL → Kafka topics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Sync temps réel OLTP › NoSQL › ML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Latence &lt; 2 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end-to-end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50" u="none" cap="none" strike="noStrike">
                          <a:solidFill>
                            <a:srgbClr val="FFFFFF"/>
                          </a:solidFill>
                        </a:rPr>
                        <a:t>Analytique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BigQuery / S3 · MongoDB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10 req OLAP : revenus, churn, succès paiement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5 req NoSQL : anomalies, IP suspectes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KPIs métier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en temps réel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50" u="none" cap="none" strike="noStrike">
                          <a:solidFill>
                            <a:srgbClr val="FFFFFF"/>
                          </a:solidFill>
                        </a:rPr>
                        <a:t>ML &amp; Restitution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Modèle fraude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Power BI / Streamlit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Features Redis (cache) + BigQuery Feature Store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Score &lt; 50 ms · Tableaux de bord KPIs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SLA 99,9 %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" sz="900" u="none" cap="none" strike="noStrike">
                          <a:solidFill>
                            <a:srgbClr val="0D1B2A"/>
                          </a:solidFill>
                        </a:rPr>
                        <a:t>Vision unifiée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D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ipe Payments | Solutions de paiement tout-en-un" id="142" name="Google Shape;142;p6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>
            <p:ph idx="4294967295" type="ctrTitle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 la production : perspectives du projet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>
            <p:ph idx="4294967295" type="ctrTitle"/>
          </p:nvPr>
        </p:nvSpPr>
        <p:spPr>
          <a:xfrm>
            <a:off x="985351" y="753798"/>
            <a:ext cx="7944236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Industrialisation sur le cloud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Déploiement sur GCP </a:t>
            </a:r>
            <a:r>
              <a:rPr lang="fr" sz="1050">
                <a:latin typeface="Inter Medium"/>
                <a:ea typeface="Inter Medium"/>
                <a:cs typeface="Inter Medium"/>
                <a:sym typeface="Inter Medium"/>
              </a:rPr>
              <a:t>/</a:t>
            </a: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AWS avec stockage managé (BigQuery / S3)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Automatisation complète des flux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Orchestration quotidienne via Airflow et dbt Cloud pour des pipelines robustes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Extension des modèles Machine Learning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Ajout de modèles pour le churn, la recommandation et la segmentation client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Surveillance continue des performances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Tracking automatique des métriques, dérives et décisions suite aux détections de fraude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Gouvernance et documentation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Mise en place d’un Data Catalog, métadonnées, et suivi des accès pour conformité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Enrichissement analytique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Intégration future de données comportementales et de logs dans le modèle OLAP</a:t>
            </a: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Monitoring et qualité</a:t>
            </a:r>
            <a:br>
              <a:rPr b="0" i="0" lang="fr" sz="1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0" i="0" lang="fr" sz="105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Supervision du pipeline et exécution de tests automatisés (CI/CD, validation des données)</a:t>
            </a:r>
            <a:endParaRPr b="0" i="0" sz="16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 rot="-355994">
            <a:off x="651217" y="1510951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 rot="-355994">
            <a:off x="651215" y="2086706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8472458" y="47498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fr" sz="1600"/>
              <a:t>‹#›</a:t>
            </a:fld>
            <a:endParaRPr b="1" sz="1600"/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90" y="4806720"/>
            <a:ext cx="671542" cy="27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 rot="-355994">
            <a:off x="651539" y="960226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 rot="-355994">
            <a:off x="651217" y="265488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 rot="-355994">
            <a:off x="651214" y="3284452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 rot="-355994">
            <a:off x="651215" y="3885290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 rot="-355994">
            <a:off x="651214" y="4408702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idx="4294967295" type="ctrTitle"/>
          </p:nvPr>
        </p:nvSpPr>
        <p:spPr>
          <a:xfrm>
            <a:off x="2014175" y="1805093"/>
            <a:ext cx="531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" sz="5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b="1" i="0" sz="56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84809" y="4283339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AIA - Groupe 3 - Février 2026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