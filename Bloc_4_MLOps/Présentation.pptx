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6858000" cy="9144000"/>
  <p:embeddedFontLst>
    <p:embeddedFont>
      <p:font typeface="Inter SemiBold"/>
      <p:regular r:id="rId13"/>
      <p:bold r:id="rId14"/>
      <p:italic r:id="rId15"/>
      <p:boldItalic r:id="rId16"/>
    </p:embeddedFont>
    <p:embeddedFont>
      <p:font typeface="Inter"/>
      <p:regular r:id="rId17"/>
      <p:bold r:id="rId18"/>
      <p:italic r:id="rId19"/>
      <p:boldItalic r:id="rId20"/>
    </p:embeddedFont>
    <p:embeddedFont>
      <p:font typeface="Libre Baskerville"/>
      <p:regular r:id="rId21"/>
      <p:bold r:id="rId22"/>
      <p:italic r:id="rId23"/>
      <p:boldItalic r:id="rId24"/>
    </p:embeddedFont>
    <p:embeddedFont>
      <p:font typeface="Inter Medium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9" roundtripDataSignature="AMtx7mhlKcd+lxZ+rhtwdwlsnjnTYfP6p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Italic.fntdata"/><Relationship Id="rId22" Type="http://schemas.openxmlformats.org/officeDocument/2006/relationships/font" Target="fonts/LibreBaskerville-bold.fntdata"/><Relationship Id="rId21" Type="http://schemas.openxmlformats.org/officeDocument/2006/relationships/font" Target="fonts/LibreBaskerville-regular.fntdata"/><Relationship Id="rId24" Type="http://schemas.openxmlformats.org/officeDocument/2006/relationships/font" Target="fonts/LibreBaskerville-boldItalic.fntdata"/><Relationship Id="rId23" Type="http://schemas.openxmlformats.org/officeDocument/2006/relationships/font" Target="fonts/LibreBaskerville-italic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InterMedium-bold.fntdata"/><Relationship Id="rId25" Type="http://schemas.openxmlformats.org/officeDocument/2006/relationships/font" Target="fonts/InterMedium-regular.fntdata"/><Relationship Id="rId28" Type="http://schemas.openxmlformats.org/officeDocument/2006/relationships/font" Target="fonts/InterMedium-boldItalic.fntdata"/><Relationship Id="rId27" Type="http://schemas.openxmlformats.org/officeDocument/2006/relationships/font" Target="fonts/InterMedium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InterSemiBold-regular.fntdata"/><Relationship Id="rId12" Type="http://schemas.openxmlformats.org/officeDocument/2006/relationships/slide" Target="slides/slide8.xml"/><Relationship Id="rId15" Type="http://schemas.openxmlformats.org/officeDocument/2006/relationships/font" Target="fonts/InterSemiBold-italic.fntdata"/><Relationship Id="rId14" Type="http://schemas.openxmlformats.org/officeDocument/2006/relationships/font" Target="fonts/InterSemiBold-bold.fntdata"/><Relationship Id="rId17" Type="http://schemas.openxmlformats.org/officeDocument/2006/relationships/font" Target="fonts/Inter-regular.fntdata"/><Relationship Id="rId16" Type="http://schemas.openxmlformats.org/officeDocument/2006/relationships/font" Target="fonts/InterSemiBold-boldItalic.fntdata"/><Relationship Id="rId19" Type="http://schemas.openxmlformats.org/officeDocument/2006/relationships/font" Target="fonts/Inter-italic.fntdata"/><Relationship Id="rId18" Type="http://schemas.openxmlformats.org/officeDocument/2006/relationships/font" Target="fonts/Inter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af3db5aa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3eaf3db5aa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eaf3db5aa5_0_0:notes"/>
          <p:cNvSpPr/>
          <p:nvPr>
            <p:ph idx="2" type="sldImg"/>
          </p:nvPr>
        </p:nvSpPr>
        <p:spPr>
          <a:xfrm>
            <a:off x="-223300" y="1143000"/>
            <a:ext cx="7304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eaf3db5aa5_0_0:notes"/>
          <p:cNvSpPr txBox="1"/>
          <p:nvPr>
            <p:ph idx="1" type="body"/>
          </p:nvPr>
        </p:nvSpPr>
        <p:spPr>
          <a:xfrm>
            <a:off x="685167" y="4400550"/>
            <a:ext cx="54876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g3eaf3db5aa5_0_0:notes"/>
          <p:cNvSpPr txBox="1"/>
          <p:nvPr>
            <p:ph idx="12" type="sldNum"/>
          </p:nvPr>
        </p:nvSpPr>
        <p:spPr>
          <a:xfrm>
            <a:off x="3884730" y="8685213"/>
            <a:ext cx="29712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9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5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6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6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6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7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8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FDAD2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"/>
          <p:cNvSpPr txBox="1"/>
          <p:nvPr>
            <p:ph type="ctrTitle"/>
          </p:nvPr>
        </p:nvSpPr>
        <p:spPr>
          <a:xfrm>
            <a:off x="735475" y="1600000"/>
            <a:ext cx="6478200" cy="8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fr" sz="4000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Fraud Detection MLOps</a:t>
            </a:r>
            <a:endParaRPr sz="4000">
              <a:solidFill>
                <a:srgbClr val="0E3449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</p:txBody>
      </p:sp>
      <p:pic>
        <p:nvPicPr>
          <p:cNvPr id="56" name="Google Shape;5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85550" y="2595750"/>
            <a:ext cx="3818450" cy="2547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40550" y="787375"/>
            <a:ext cx="973275" cy="651050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"/>
          <p:cNvSpPr txBox="1"/>
          <p:nvPr>
            <p:ph type="ctrTitle"/>
          </p:nvPr>
        </p:nvSpPr>
        <p:spPr>
          <a:xfrm>
            <a:off x="302889" y="4001050"/>
            <a:ext cx="5315100" cy="533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Arial"/>
              <a:buNone/>
            </a:pPr>
            <a:r>
              <a:rPr lang="fr" sz="1800">
                <a:solidFill>
                  <a:schemeClr val="lt1"/>
                </a:solidFill>
                <a:latin typeface="Inter Medium"/>
                <a:ea typeface="Inter Medium"/>
                <a:cs typeface="Inter Medium"/>
                <a:sym typeface="Inter Medium"/>
              </a:rPr>
              <a:t>AIA – Selma ROCHET – Février 2026</a:t>
            </a:r>
            <a:endParaRPr sz="2500">
              <a:solidFill>
                <a:schemeClr val="lt1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4FF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"/>
          <p:cNvSpPr txBox="1"/>
          <p:nvPr>
            <p:ph idx="4294967295" type="ctrTitle"/>
          </p:nvPr>
        </p:nvSpPr>
        <p:spPr>
          <a:xfrm>
            <a:off x="1914447" y="939875"/>
            <a:ext cx="5315100" cy="13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fr" sz="4500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Le Problème</a:t>
            </a:r>
            <a:endParaRPr b="1" i="0" sz="4500" u="none" cap="none" strike="noStrike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1" i="0" lang="fr" sz="4500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Comment détecter la fraude en temps réel ?</a:t>
            </a:r>
            <a:endParaRPr b="1" i="0" sz="4500" u="none" cap="none" strike="noStrike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t/>
            </a:r>
            <a:endParaRPr b="1" i="0" sz="4500" u="none" cap="none" strike="noStrike">
              <a:solidFill>
                <a:srgbClr val="0E3449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64" name="Google Shape;6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4FF"/>
        </a:solidFill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2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3"/>
          <p:cNvSpPr txBox="1"/>
          <p:nvPr/>
        </p:nvSpPr>
        <p:spPr>
          <a:xfrm>
            <a:off x="1192664" y="403309"/>
            <a:ext cx="6800000" cy="6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fr" sz="28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Le Modèle XGBoost</a:t>
            </a:r>
            <a:endParaRPr/>
          </a:p>
        </p:txBody>
      </p:sp>
      <p:sp>
        <p:nvSpPr>
          <p:cNvPr id="71" name="Google Shape;71;p3"/>
          <p:cNvSpPr/>
          <p:nvPr/>
        </p:nvSpPr>
        <p:spPr>
          <a:xfrm>
            <a:off x="300000" y="1100000"/>
            <a:ext cx="4150000" cy="1500000"/>
          </a:xfrm>
          <a:prstGeom prst="roundRect">
            <a:avLst>
              <a:gd fmla="val 20000" name="adj"/>
            </a:avLst>
          </a:prstGeom>
          <a:solidFill>
            <a:srgbClr val="3FDAD2"/>
          </a:solidFill>
          <a:ln>
            <a:noFill/>
          </a:ln>
        </p:spPr>
        <p:txBody>
          <a:bodyPr anchorCtr="1" anchor="ctr" bIns="182875" lIns="182875" spcFirstLastPara="1" rIns="18287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" sz="1400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ROC-AUC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fr" sz="60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0.981</a:t>
            </a:r>
            <a:endParaRPr/>
          </a:p>
        </p:txBody>
      </p:sp>
      <p:sp>
        <p:nvSpPr>
          <p:cNvPr id="72" name="Google Shape;72;p3"/>
          <p:cNvSpPr/>
          <p:nvPr/>
        </p:nvSpPr>
        <p:spPr>
          <a:xfrm>
            <a:off x="4700000" y="1100000"/>
            <a:ext cx="4150000" cy="1500000"/>
          </a:xfrm>
          <a:prstGeom prst="roundRect">
            <a:avLst>
              <a:gd fmla="val 20000" name="adj"/>
            </a:avLst>
          </a:prstGeom>
          <a:solidFill>
            <a:srgbClr val="0E3449"/>
          </a:solidFill>
          <a:ln>
            <a:noFill/>
          </a:ln>
        </p:spPr>
        <p:txBody>
          <a:bodyPr anchorCtr="1" anchor="ctr" bIns="182875" lIns="182875" spcFirstLastPara="1" rIns="18287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" sz="1400" u="none" cap="none" strike="noStrike">
                <a:solidFill>
                  <a:srgbClr val="3FDAD2"/>
                </a:solidFill>
                <a:latin typeface="Inter"/>
                <a:ea typeface="Inter"/>
                <a:cs typeface="Inter"/>
                <a:sym typeface="Inter"/>
              </a:rPr>
              <a:t>Recall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fr" sz="60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86.9%</a:t>
            </a:r>
            <a:endParaRPr/>
          </a:p>
        </p:txBody>
      </p:sp>
      <p:sp>
        <p:nvSpPr>
          <p:cNvPr id="73" name="Google Shape;73;p3"/>
          <p:cNvSpPr/>
          <p:nvPr/>
        </p:nvSpPr>
        <p:spPr>
          <a:xfrm>
            <a:off x="300000" y="2750000"/>
            <a:ext cx="4150000" cy="1200000"/>
          </a:xfrm>
          <a:prstGeom prst="roundRect">
            <a:avLst>
              <a:gd fmla="val 20000" name="adj"/>
            </a:avLst>
          </a:prstGeom>
          <a:solidFill>
            <a:srgbClr val="0E3449"/>
          </a:solidFill>
          <a:ln>
            <a:noFill/>
          </a:ln>
        </p:spPr>
        <p:txBody>
          <a:bodyPr anchorCtr="1" anchor="ctr" bIns="182875" lIns="182875" spcFirstLastPara="1" rIns="18287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" sz="1400" u="none" cap="none" strike="noStrike">
                <a:solidFill>
                  <a:srgbClr val="3FDAD2"/>
                </a:solidFill>
                <a:latin typeface="Inter"/>
                <a:ea typeface="Inter"/>
                <a:cs typeface="Inter"/>
                <a:sym typeface="Inter"/>
              </a:rPr>
              <a:t>F1 Score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fr" sz="60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0.720</a:t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4700000" y="2750000"/>
            <a:ext cx="4150000" cy="1200000"/>
          </a:xfrm>
          <a:prstGeom prst="roundRect">
            <a:avLst>
              <a:gd fmla="val 20000" name="adj"/>
            </a:avLst>
          </a:prstGeom>
          <a:solidFill>
            <a:srgbClr val="3FDAD2"/>
          </a:solidFill>
          <a:ln>
            <a:noFill/>
          </a:ln>
        </p:spPr>
        <p:txBody>
          <a:bodyPr anchorCtr="1" anchor="ctr" bIns="182875" lIns="182875" spcFirstLastPara="1" rIns="18287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" sz="1400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Seuil optimal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Arial"/>
              <a:buNone/>
            </a:pPr>
            <a:r>
              <a:rPr b="1" i="0" lang="fr" sz="60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0.30</a:t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300000" y="4100000"/>
            <a:ext cx="8544000" cy="680000"/>
          </a:xfrm>
          <a:prstGeom prst="roundRect">
            <a:avLst>
              <a:gd fmla="val 15000" name="adj"/>
            </a:avLst>
          </a:prstGeom>
          <a:solidFill>
            <a:srgbClr val="C3FFFC"/>
          </a:solidFill>
          <a:ln cap="flat" cmpd="sng" w="19050">
            <a:solidFill>
              <a:srgbClr val="3FDA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91425" lIns="365750" spcFirstLastPara="1" rIns="36575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fr" sz="1600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299 695 transactions</a:t>
            </a:r>
            <a:r>
              <a:rPr lang="fr" sz="160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· X les features existant</a:t>
            </a:r>
            <a:r>
              <a:rPr b="0" i="0" lang="fr" sz="1600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 · 54 features</a:t>
            </a:r>
            <a:r>
              <a:rPr lang="fr" sz="1600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 au total(existant et features créées)</a:t>
            </a:r>
            <a:r>
              <a:rPr b="0" i="0" lang="fr" sz="1600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 · Optimisation Optuna 150 trials</a:t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4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3500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4"/>
          <p:cNvSpPr txBox="1"/>
          <p:nvPr/>
        </p:nvSpPr>
        <p:spPr>
          <a:xfrm>
            <a:off x="1200000" y="360000"/>
            <a:ext cx="74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fr" sz="2800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Architecture &amp; Services MLOps</a:t>
            </a:r>
            <a:endParaRPr/>
          </a:p>
        </p:txBody>
      </p:sp>
      <p:sp>
        <p:nvSpPr>
          <p:cNvPr id="83" name="Google Shape;83;p4"/>
          <p:cNvSpPr txBox="1"/>
          <p:nvPr/>
        </p:nvSpPr>
        <p:spPr>
          <a:xfrm>
            <a:off x="300000" y="800000"/>
            <a:ext cx="4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3FDAD2"/>
                </a:solidFill>
                <a:latin typeface="Inter"/>
                <a:ea typeface="Inter"/>
                <a:cs typeface="Inter"/>
                <a:sym typeface="Inter"/>
              </a:rPr>
              <a:t>INFÉRENCE</a:t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300000" y="980000"/>
            <a:ext cx="2350000" cy="820000"/>
          </a:xfrm>
          <a:prstGeom prst="roundRect">
            <a:avLst>
              <a:gd fmla="val 15000" name="adj"/>
            </a:avLst>
          </a:prstGeom>
          <a:solidFill>
            <a:srgbClr val="3FDAD2"/>
          </a:solidFill>
          <a:ln>
            <a:noFill/>
          </a:ln>
        </p:spPr>
        <p:txBody>
          <a:bodyPr anchorCtr="1" anchor="ctr" bIns="91425" lIns="182875" spcFirstLastPara="1" rIns="18287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fr" sz="16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FastAPI REST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" sz="1200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Inférence · port 8001</a:t>
            </a:r>
            <a:endParaRPr/>
          </a:p>
        </p:txBody>
      </p:sp>
      <p:sp>
        <p:nvSpPr>
          <p:cNvPr id="85" name="Google Shape;85;p4"/>
          <p:cNvSpPr/>
          <p:nvPr/>
        </p:nvSpPr>
        <p:spPr>
          <a:xfrm>
            <a:off x="2850000" y="1300000"/>
            <a:ext cx="350000" cy="180000"/>
          </a:xfrm>
          <a:prstGeom prst="rightArrow">
            <a:avLst>
              <a:gd fmla="val 50000" name="adj1"/>
              <a:gd fmla="val 60000" name="adj2"/>
            </a:avLst>
          </a:prstGeom>
          <a:solidFill>
            <a:srgbClr val="3FDAD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3200000" y="980000"/>
            <a:ext cx="2350000" cy="820000"/>
          </a:xfrm>
          <a:prstGeom prst="roundRect">
            <a:avLst>
              <a:gd fmla="val 15000" name="adj"/>
            </a:avLst>
          </a:prstGeom>
          <a:solidFill>
            <a:srgbClr val="0E3449"/>
          </a:solidFill>
          <a:ln>
            <a:noFill/>
          </a:ln>
        </p:spPr>
        <p:txBody>
          <a:bodyPr anchorCtr="1" anchor="ctr" bIns="91425" lIns="182875" spcFirstLastPara="1" rIns="18287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fr" sz="16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XGBoost Model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54 features · seuil 0.30</a:t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5750000" y="1300000"/>
            <a:ext cx="350000" cy="180000"/>
          </a:xfrm>
          <a:prstGeom prst="rightArrow">
            <a:avLst>
              <a:gd fmla="val 50000" name="adj1"/>
              <a:gd fmla="val 60000" name="adj2"/>
            </a:avLst>
          </a:prstGeom>
          <a:solidFill>
            <a:srgbClr val="3FDAD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6100000" y="980000"/>
            <a:ext cx="2744000" cy="820000"/>
          </a:xfrm>
          <a:prstGeom prst="roundRect">
            <a:avLst>
              <a:gd fmla="val 15000" name="adj"/>
            </a:avLst>
          </a:prstGeom>
          <a:solidFill>
            <a:srgbClr val="3FDAD2"/>
          </a:solidFill>
          <a:ln>
            <a:noFill/>
          </a:ln>
        </p:spPr>
        <p:txBody>
          <a:bodyPr anchorCtr="1" anchor="ctr" bIns="91425" lIns="182875" spcFirstLastPara="1" rIns="18287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fr" sz="16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Score + Alerte Fraude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" sz="1200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0 = légitime · 1 = fraude</a:t>
            </a:r>
            <a:endParaRPr/>
          </a:p>
        </p:txBody>
      </p:sp>
      <p:sp>
        <p:nvSpPr>
          <p:cNvPr id="89" name="Google Shape;89;p4"/>
          <p:cNvSpPr/>
          <p:nvPr/>
        </p:nvSpPr>
        <p:spPr>
          <a:xfrm>
            <a:off x="1400000" y="1880000"/>
            <a:ext cx="150000" cy="240000"/>
          </a:xfrm>
          <a:prstGeom prst="downArrow">
            <a:avLst>
              <a:gd fmla="val 50000" name="adj1"/>
              <a:gd fmla="val 55000" name="adj2"/>
            </a:avLst>
          </a:prstGeom>
          <a:solidFill>
            <a:srgbClr val="3FDAD2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4"/>
          <p:cNvSpPr/>
          <p:nvPr/>
        </p:nvSpPr>
        <p:spPr>
          <a:xfrm>
            <a:off x="4300000" y="1880000"/>
            <a:ext cx="150000" cy="240000"/>
          </a:xfrm>
          <a:prstGeom prst="downArrow">
            <a:avLst>
              <a:gd fmla="val 50000" name="adj1"/>
              <a:gd fmla="val 55000" name="adj2"/>
            </a:avLst>
          </a:prstGeom>
          <a:solidFill>
            <a:srgbClr val="94A3B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4"/>
          <p:cNvSpPr txBox="1"/>
          <p:nvPr/>
        </p:nvSpPr>
        <p:spPr>
          <a:xfrm>
            <a:off x="300000" y="2020000"/>
            <a:ext cx="5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3FDAD2"/>
                </a:solidFill>
                <a:latin typeface="Inter"/>
                <a:ea typeface="Inter"/>
                <a:cs typeface="Inter"/>
                <a:sym typeface="Inter"/>
              </a:rPr>
              <a:t>MONITORING &amp; ORCHESTRATION</a:t>
            </a:r>
            <a:endParaRPr/>
          </a:p>
        </p:txBody>
      </p:sp>
      <p:sp>
        <p:nvSpPr>
          <p:cNvPr id="92" name="Google Shape;92;p4"/>
          <p:cNvSpPr/>
          <p:nvPr/>
        </p:nvSpPr>
        <p:spPr>
          <a:xfrm>
            <a:off x="300000" y="2200000"/>
            <a:ext cx="2350000" cy="820000"/>
          </a:xfrm>
          <a:prstGeom prst="roundRect">
            <a:avLst>
              <a:gd fmla="val 15000" name="adj"/>
            </a:avLst>
          </a:prstGeom>
          <a:solidFill>
            <a:srgbClr val="C3FFFC"/>
          </a:solidFill>
          <a:ln cap="flat" cmpd="sng" w="25400">
            <a:solidFill>
              <a:srgbClr val="3FDA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91425" lIns="182875" spcFirstLastPara="1" rIns="18287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fr" sz="16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Evidently AI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" sz="1200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PSI drift · seuil 0.25</a:t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2850000" y="2520000"/>
            <a:ext cx="350000" cy="180000"/>
          </a:xfrm>
          <a:prstGeom prst="rightArrow">
            <a:avLst>
              <a:gd fmla="val 50000" name="adj1"/>
              <a:gd fmla="val 60000" name="adj2"/>
            </a:avLst>
          </a:prstGeom>
          <a:solidFill>
            <a:srgbClr val="94A3B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4"/>
          <p:cNvSpPr txBox="1"/>
          <p:nvPr/>
        </p:nvSpPr>
        <p:spPr>
          <a:xfrm>
            <a:off x="2600000" y="2310000"/>
            <a:ext cx="750000" cy="22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fr" sz="900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PSI&gt;0.25</a:t>
            </a:r>
            <a:endParaRPr/>
          </a:p>
        </p:txBody>
      </p:sp>
      <p:sp>
        <p:nvSpPr>
          <p:cNvPr id="95" name="Google Shape;95;p4"/>
          <p:cNvSpPr/>
          <p:nvPr/>
        </p:nvSpPr>
        <p:spPr>
          <a:xfrm>
            <a:off x="3200000" y="2200000"/>
            <a:ext cx="2350000" cy="820000"/>
          </a:xfrm>
          <a:prstGeom prst="roundRect">
            <a:avLst>
              <a:gd fmla="val 15000" name="adj"/>
            </a:avLst>
          </a:prstGeom>
          <a:solidFill>
            <a:srgbClr val="0E3449"/>
          </a:solidFill>
          <a:ln>
            <a:noFill/>
          </a:ln>
        </p:spPr>
        <p:txBody>
          <a:bodyPr anchorCtr="1" anchor="ctr" bIns="91425" lIns="182875" spcFirstLastPara="1" rIns="18287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fr" sz="16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Airflow DAG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" sz="12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Orchestration réentraînement</a:t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5750000" y="2520000"/>
            <a:ext cx="350000" cy="180000"/>
          </a:xfrm>
          <a:prstGeom prst="rightArrow">
            <a:avLst>
              <a:gd fmla="val 50000" name="adj1"/>
              <a:gd fmla="val 60000" name="adj2"/>
            </a:avLst>
          </a:prstGeom>
          <a:solidFill>
            <a:srgbClr val="94A3B8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6100000" y="2200000"/>
            <a:ext cx="2744000" cy="820000"/>
          </a:xfrm>
          <a:prstGeom prst="roundRect">
            <a:avLst>
              <a:gd fmla="val 15000" name="adj"/>
            </a:avLst>
          </a:prstGeom>
          <a:solidFill>
            <a:srgbClr val="C3FFFC"/>
          </a:solidFill>
          <a:ln cap="flat" cmpd="sng" w="25400">
            <a:solidFill>
              <a:srgbClr val="3FDA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91425" lIns="182875" spcFirstLastPara="1" rIns="18287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fr" sz="16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MLflow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fr" sz="1200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Tracking + Model Registry</a:t>
            </a:r>
            <a:endParaRPr/>
          </a:p>
        </p:txBody>
      </p:sp>
      <p:sp>
        <p:nvSpPr>
          <p:cNvPr id="98" name="Google Shape;98;p4"/>
          <p:cNvSpPr txBox="1"/>
          <p:nvPr/>
        </p:nvSpPr>
        <p:spPr>
          <a:xfrm>
            <a:off x="300000" y="3120000"/>
            <a:ext cx="4000000" cy="20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INFRASTRUCTURE</a:t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300000" y="3300000"/>
            <a:ext cx="2000000" cy="530000"/>
          </a:xfrm>
          <a:prstGeom prst="roundRect">
            <a:avLst>
              <a:gd fmla="val 15000" name="adj"/>
            </a:avLst>
          </a:prstGeom>
          <a:solidFill>
            <a:srgbClr val="FFFFFF"/>
          </a:solidFill>
          <a:ln cap="flat" cmpd="sng" w="12700">
            <a:solidFill>
              <a:srgbClr val="0E3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91425" lIns="182875" spcFirstLastPara="1" rIns="18287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fr" sz="14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Docker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fr" sz="1100" u="none" cap="none" strike="noStrike">
                <a:solidFill>
                  <a:srgbClr val="5A6A77"/>
                </a:solidFill>
                <a:latin typeface="Inter"/>
                <a:ea typeface="Inter"/>
                <a:cs typeface="Inter"/>
                <a:sym typeface="Inter"/>
              </a:rPr>
              <a:t>Containerisation</a:t>
            </a:r>
            <a:endParaRPr/>
          </a:p>
        </p:txBody>
      </p:sp>
      <p:sp>
        <p:nvSpPr>
          <p:cNvPr id="100" name="Google Shape;100;p4"/>
          <p:cNvSpPr/>
          <p:nvPr/>
        </p:nvSpPr>
        <p:spPr>
          <a:xfrm>
            <a:off x="2481333" y="3300000"/>
            <a:ext cx="2000000" cy="530000"/>
          </a:xfrm>
          <a:prstGeom prst="roundRect">
            <a:avLst>
              <a:gd fmla="val 15000" name="adj"/>
            </a:avLst>
          </a:prstGeom>
          <a:solidFill>
            <a:srgbClr val="FFFFFF"/>
          </a:solidFill>
          <a:ln cap="flat" cmpd="sng" w="12700">
            <a:solidFill>
              <a:srgbClr val="0E3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91425" lIns="182875" spcFirstLastPara="1" rIns="18287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fr" sz="14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DVC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fr" sz="1100" u="none" cap="none" strike="noStrike">
                <a:solidFill>
                  <a:srgbClr val="5A6A77"/>
                </a:solidFill>
                <a:latin typeface="Inter"/>
                <a:ea typeface="Inter"/>
                <a:cs typeface="Inter"/>
                <a:sym typeface="Inter"/>
              </a:rPr>
              <a:t>Versioning données</a:t>
            </a:r>
            <a:endParaRPr/>
          </a:p>
        </p:txBody>
      </p:sp>
      <p:sp>
        <p:nvSpPr>
          <p:cNvPr id="101" name="Google Shape;101;p4"/>
          <p:cNvSpPr/>
          <p:nvPr/>
        </p:nvSpPr>
        <p:spPr>
          <a:xfrm>
            <a:off x="4662666" y="3300000"/>
            <a:ext cx="2000000" cy="530000"/>
          </a:xfrm>
          <a:prstGeom prst="roundRect">
            <a:avLst>
              <a:gd fmla="val 15000" name="adj"/>
            </a:avLst>
          </a:prstGeom>
          <a:solidFill>
            <a:srgbClr val="FFFFFF"/>
          </a:solidFill>
          <a:ln cap="flat" cmpd="sng" w="12700">
            <a:solidFill>
              <a:srgbClr val="0E3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91425" lIns="182875" spcFirstLastPara="1" rIns="18287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fr" sz="14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GitHub Actions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fr" sz="1100" u="none" cap="none" strike="noStrike">
                <a:solidFill>
                  <a:srgbClr val="5A6A77"/>
                </a:solidFill>
                <a:latin typeface="Inter"/>
                <a:ea typeface="Inter"/>
                <a:cs typeface="Inter"/>
                <a:sym typeface="Inter"/>
              </a:rPr>
              <a:t>CI/CD pipeline</a:t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6843999" y="3300000"/>
            <a:ext cx="2000000" cy="530000"/>
          </a:xfrm>
          <a:prstGeom prst="roundRect">
            <a:avLst>
              <a:gd fmla="val 15000" name="adj"/>
            </a:avLst>
          </a:prstGeom>
          <a:solidFill>
            <a:srgbClr val="FFFFFF"/>
          </a:solidFill>
          <a:ln cap="flat" cmpd="sng" w="12700">
            <a:solidFill>
              <a:srgbClr val="0E3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91425" lIns="182875" spcFirstLastPara="1" rIns="18287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fr" sz="14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SQLite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fr" sz="1100" u="none" cap="none" strike="noStrike">
                <a:solidFill>
                  <a:srgbClr val="5A6A77"/>
                </a:solidFill>
                <a:latin typeface="Inter"/>
                <a:ea typeface="Inter"/>
                <a:cs typeface="Inter"/>
                <a:sym typeface="Inter"/>
              </a:rPr>
              <a:t>Backend MLflow</a:t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8F4FF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350000"/>
            <a:ext cx="576900" cy="38590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5"/>
          <p:cNvSpPr txBox="1"/>
          <p:nvPr/>
        </p:nvSpPr>
        <p:spPr>
          <a:xfrm>
            <a:off x="1200000" y="360000"/>
            <a:ext cx="7400000" cy="5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1" i="0" lang="fr" sz="28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Monitoring &amp; Détection de Drift</a:t>
            </a:r>
            <a:endParaRPr/>
          </a:p>
        </p:txBody>
      </p:sp>
      <p:sp>
        <p:nvSpPr>
          <p:cNvPr id="110" name="Google Shape;110;p5"/>
          <p:cNvSpPr txBox="1"/>
          <p:nvPr/>
        </p:nvSpPr>
        <p:spPr>
          <a:xfrm>
            <a:off x="785500" y="842950"/>
            <a:ext cx="20001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3FDAD2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PSI STABLE</a:t>
            </a:r>
            <a:endParaRPr/>
          </a:p>
        </p:txBody>
      </p:sp>
      <p:sp>
        <p:nvSpPr>
          <p:cNvPr id="111" name="Google Shape;111;p5"/>
          <p:cNvSpPr txBox="1"/>
          <p:nvPr/>
        </p:nvSpPr>
        <p:spPr>
          <a:xfrm>
            <a:off x="3524800" y="850050"/>
            <a:ext cx="20001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5A6A7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PSI MODÉRÉ</a:t>
            </a:r>
            <a:endParaRPr/>
          </a:p>
        </p:txBody>
      </p:sp>
      <p:sp>
        <p:nvSpPr>
          <p:cNvPr id="112" name="Google Shape;112;p5"/>
          <p:cNvSpPr txBox="1"/>
          <p:nvPr/>
        </p:nvSpPr>
        <p:spPr>
          <a:xfrm>
            <a:off x="6264200" y="860000"/>
            <a:ext cx="20001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PSI CRITIQUE</a:t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485500" y="1270000"/>
            <a:ext cx="2600100" cy="2750100"/>
          </a:xfrm>
          <a:prstGeom prst="roundRect">
            <a:avLst>
              <a:gd fmla="val 15000" name="adj"/>
            </a:avLst>
          </a:prstGeom>
          <a:solidFill>
            <a:srgbClr val="C3FFFC"/>
          </a:solidFill>
          <a:ln cap="flat" cmpd="sng" w="32000">
            <a:solidFill>
              <a:srgbClr val="3FDA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91425" lIns="182875" spcFirstLastPara="1" rIns="18287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" sz="14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&lt; 0.10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fr" sz="38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Stable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fr" sz="1300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Monitoring continu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fr" sz="1300" u="none" cap="none" strike="noStrike">
                <a:solidFill>
                  <a:srgbClr val="3A6A65"/>
                </a:solidFill>
                <a:latin typeface="Inter"/>
                <a:ea typeface="Inter"/>
                <a:cs typeface="Inter"/>
                <a:sym typeface="Inter"/>
              </a:rPr>
              <a:t>Aucune action requise</a:t>
            </a:r>
            <a:endParaRPr/>
          </a:p>
        </p:txBody>
      </p:sp>
      <p:sp>
        <p:nvSpPr>
          <p:cNvPr id="114" name="Google Shape;114;p5"/>
          <p:cNvSpPr/>
          <p:nvPr/>
        </p:nvSpPr>
        <p:spPr>
          <a:xfrm>
            <a:off x="3272050" y="1270000"/>
            <a:ext cx="2600100" cy="2750100"/>
          </a:xfrm>
          <a:prstGeom prst="roundRect">
            <a:avLst>
              <a:gd fmla="val 15000" name="adj"/>
            </a:avLst>
          </a:prstGeom>
          <a:solidFill>
            <a:srgbClr val="FFFFFF"/>
          </a:solidFill>
          <a:ln cap="flat" cmpd="sng" w="25400">
            <a:solidFill>
              <a:srgbClr val="0E3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91425" lIns="182875" spcFirstLastPara="1" rIns="18287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" sz="1400" u="none" cap="none" strike="noStrike">
                <a:solidFill>
                  <a:srgbClr val="5A6A7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0.10 — 0.25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fr" sz="38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Modéré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fr" sz="1300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Alerte webhook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fr" sz="1300" u="none" cap="none" strike="noStrike">
                <a:solidFill>
                  <a:srgbClr val="5A6A77"/>
                </a:solidFill>
                <a:latin typeface="Inter"/>
                <a:ea typeface="Inter"/>
                <a:cs typeface="Inter"/>
                <a:sym typeface="Inter"/>
              </a:rPr>
              <a:t>Rapport HTML Evidently</a:t>
            </a:r>
            <a:endParaRPr/>
          </a:p>
        </p:txBody>
      </p:sp>
      <p:sp>
        <p:nvSpPr>
          <p:cNvPr id="115" name="Google Shape;115;p5"/>
          <p:cNvSpPr/>
          <p:nvPr/>
        </p:nvSpPr>
        <p:spPr>
          <a:xfrm>
            <a:off x="5964200" y="1270000"/>
            <a:ext cx="2600100" cy="2750100"/>
          </a:xfrm>
          <a:prstGeom prst="roundRect">
            <a:avLst>
              <a:gd fmla="val 15000" name="adj"/>
            </a:avLst>
          </a:prstGeom>
          <a:solidFill>
            <a:srgbClr val="0E3449"/>
          </a:solidFill>
          <a:ln>
            <a:noFill/>
          </a:ln>
        </p:spPr>
        <p:txBody>
          <a:bodyPr anchorCtr="1" anchor="ctr" bIns="91425" lIns="182875" spcFirstLastPara="1" rIns="18287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fr" sz="1400" u="none" cap="none" strike="noStrike">
                <a:solidFill>
                  <a:srgbClr val="3FDAD2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&gt; 0.25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1" i="0" lang="fr" sz="380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Critique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fr" sz="1300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Réentraînement auto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fr" sz="1300" u="none" cap="none" strike="noStrike">
                <a:solidFill>
                  <a:srgbClr val="3FDAD2"/>
                </a:solidFill>
                <a:latin typeface="Inter"/>
                <a:ea typeface="Inter"/>
                <a:cs typeface="Inter"/>
                <a:sym typeface="Inter"/>
              </a:rPr>
              <a:t>Nouveau modèle → MLflow</a:t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452850" y="4227250"/>
            <a:ext cx="8144100" cy="630000"/>
          </a:xfrm>
          <a:prstGeom prst="roundRect">
            <a:avLst>
              <a:gd fmla="val 8000" name="adj"/>
            </a:avLst>
          </a:prstGeom>
          <a:solidFill>
            <a:srgbClr val="E8F4FF"/>
          </a:solidFill>
          <a:ln cap="flat" cmpd="sng" w="19050">
            <a:solidFill>
              <a:srgbClr val="C3FFF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1" anchor="ctr" bIns="91425" lIns="182875" spcFirstLastPara="1" rIns="18287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fr" sz="1300" u="none" cap="none" strike="noStrike">
                <a:solidFill>
                  <a:srgbClr val="5A6A7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31 features surveillées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5A6A77"/>
              </a:solidFill>
              <a:latin typeface="Inter SemiBold"/>
              <a:ea typeface="Inter SemiBold"/>
              <a:cs typeface="Inter SemiBold"/>
              <a:sym typeface="Inter Semi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fr" sz="1300" u="none" cap="none" strike="noStrike">
                <a:solidFill>
                  <a:srgbClr val="0E3449"/>
                </a:solidFill>
                <a:latin typeface="Inter"/>
                <a:ea typeface="Inter"/>
                <a:cs typeface="Inter"/>
                <a:sym typeface="Inter"/>
              </a:rPr>
              <a:t>Calcul PSI toutes les 6 heures · Historique logé dans MLflow</a:t>
            </a:r>
            <a:endParaRPr/>
          </a:p>
        </p:txBody>
      </p:sp>
      <p:sp>
        <p:nvSpPr>
          <p:cNvPr id="117" name="Google Shape;117;p5"/>
          <p:cNvSpPr/>
          <p:nvPr/>
        </p:nvSpPr>
        <p:spPr>
          <a:xfrm>
            <a:off x="10225" y="4892025"/>
            <a:ext cx="9144000" cy="251400"/>
          </a:xfrm>
          <a:prstGeom prst="rect">
            <a:avLst/>
          </a:prstGeom>
          <a:solidFill>
            <a:srgbClr val="C3FFF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af3db5aa5_0_1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E8F4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g3eaf3db5aa5_0_15"/>
          <p:cNvSpPr txBox="1"/>
          <p:nvPr/>
        </p:nvSpPr>
        <p:spPr>
          <a:xfrm>
            <a:off x="300000" y="100000"/>
            <a:ext cx="8600100" cy="57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i="0" lang="fr" sz="24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Airflow DAG — Orchestration du Réentraînement</a:t>
            </a:r>
            <a:endParaRPr/>
          </a:p>
        </p:txBody>
      </p:sp>
      <p:sp>
        <p:nvSpPr>
          <p:cNvPr id="124" name="Google Shape;124;g3eaf3db5aa5_0_15"/>
          <p:cNvSpPr/>
          <p:nvPr/>
        </p:nvSpPr>
        <p:spPr>
          <a:xfrm>
            <a:off x="300000" y="690000"/>
            <a:ext cx="8544000" cy="27900"/>
          </a:xfrm>
          <a:prstGeom prst="rect">
            <a:avLst/>
          </a:prstGeom>
          <a:solidFill>
            <a:srgbClr val="3FDA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g3eaf3db5aa5_0_15"/>
          <p:cNvSpPr txBox="1"/>
          <p:nvPr/>
        </p:nvSpPr>
        <p:spPr>
          <a:xfrm>
            <a:off x="300000" y="728000"/>
            <a:ext cx="8600100" cy="21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0"/>
              <a:buFont typeface="Arial"/>
              <a:buNone/>
            </a:pPr>
            <a:r>
              <a:rPr b="0" i="0" lang="fr" sz="870" u="none" cap="none" strike="noStrike">
                <a:solidFill>
                  <a:srgbClr val="5A6A7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@daily 02:00 UTC  ·  10 tâches  ·  Déclenchement manuel : airflow dags trigger fraud_detection_mlops_pipeline</a:t>
            </a:r>
            <a:endParaRPr/>
          </a:p>
        </p:txBody>
      </p:sp>
      <p:sp>
        <p:nvSpPr>
          <p:cNvPr id="126" name="Google Shape;126;g3eaf3db5aa5_0_15"/>
          <p:cNvSpPr txBox="1"/>
          <p:nvPr/>
        </p:nvSpPr>
        <p:spPr>
          <a:xfrm>
            <a:off x="150000" y="2465000"/>
            <a:ext cx="11499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3FDAD2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DONNÉES</a:t>
            </a:r>
            <a:endParaRPr/>
          </a:p>
        </p:txBody>
      </p:sp>
      <p:sp>
        <p:nvSpPr>
          <p:cNvPr id="127" name="Google Shape;127;g3eaf3db5aa5_0_15"/>
          <p:cNvSpPr txBox="1"/>
          <p:nvPr/>
        </p:nvSpPr>
        <p:spPr>
          <a:xfrm>
            <a:off x="1550000" y="2465000"/>
            <a:ext cx="11499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5A6A7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MONITORING</a:t>
            </a:r>
            <a:endParaRPr/>
          </a:p>
        </p:txBody>
      </p:sp>
      <p:sp>
        <p:nvSpPr>
          <p:cNvPr id="128" name="Google Shape;128;g3eaf3db5aa5_0_15"/>
          <p:cNvSpPr txBox="1"/>
          <p:nvPr/>
        </p:nvSpPr>
        <p:spPr>
          <a:xfrm>
            <a:off x="2950000" y="2465000"/>
            <a:ext cx="11499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DÉCISION</a:t>
            </a:r>
            <a:endParaRPr/>
          </a:p>
        </p:txBody>
      </p:sp>
      <p:sp>
        <p:nvSpPr>
          <p:cNvPr id="129" name="Google Shape;129;g3eaf3db5aa5_0_15"/>
          <p:cNvSpPr/>
          <p:nvPr/>
        </p:nvSpPr>
        <p:spPr>
          <a:xfrm>
            <a:off x="150000" y="2750000"/>
            <a:ext cx="1149900" cy="459900"/>
          </a:xfrm>
          <a:prstGeom prst="roundRect">
            <a:avLst>
              <a:gd fmla="val 15000" name="adj"/>
            </a:avLst>
          </a:prstGeom>
          <a:solidFill>
            <a:srgbClr val="3FDA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g3eaf3db5aa5_0_15"/>
          <p:cNvSpPr txBox="1"/>
          <p:nvPr/>
        </p:nvSpPr>
        <p:spPr>
          <a:xfrm>
            <a:off x="150000" y="2750000"/>
            <a:ext cx="11499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0"/>
              <a:buFont typeface="Arial"/>
              <a:buNone/>
            </a:pPr>
            <a:r>
              <a:rPr b="1" i="0" lang="fr" sz="87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check_new_data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0" i="0" lang="fr" sz="78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nouvelles données</a:t>
            </a:r>
            <a:endParaRPr/>
          </a:p>
        </p:txBody>
      </p:sp>
      <p:sp>
        <p:nvSpPr>
          <p:cNvPr id="131" name="Google Shape;131;g3eaf3db5aa5_0_15"/>
          <p:cNvSpPr/>
          <p:nvPr/>
        </p:nvSpPr>
        <p:spPr>
          <a:xfrm>
            <a:off x="1325000" y="2910000"/>
            <a:ext cx="200100" cy="14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344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3eaf3db5aa5_0_15"/>
          <p:cNvSpPr/>
          <p:nvPr/>
        </p:nvSpPr>
        <p:spPr>
          <a:xfrm>
            <a:off x="1550000" y="2750000"/>
            <a:ext cx="1149900" cy="459900"/>
          </a:xfrm>
          <a:prstGeom prst="roundRect">
            <a:avLst>
              <a:gd fmla="val 15000" name="adj"/>
            </a:avLst>
          </a:prstGeom>
          <a:solidFill>
            <a:srgbClr val="0E34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3eaf3db5aa5_0_15"/>
          <p:cNvSpPr txBox="1"/>
          <p:nvPr/>
        </p:nvSpPr>
        <p:spPr>
          <a:xfrm>
            <a:off x="1550000" y="2750000"/>
            <a:ext cx="11499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0"/>
              <a:buFont typeface="Arial"/>
              <a:buNone/>
            </a:pPr>
            <a:r>
              <a:rPr b="1" i="0" lang="fr" sz="87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run_monitoring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0" i="0" lang="fr" sz="78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calcul PSI</a:t>
            </a:r>
            <a:endParaRPr/>
          </a:p>
        </p:txBody>
      </p:sp>
      <p:sp>
        <p:nvSpPr>
          <p:cNvPr id="134" name="Google Shape;134;g3eaf3db5aa5_0_15"/>
          <p:cNvSpPr/>
          <p:nvPr/>
        </p:nvSpPr>
        <p:spPr>
          <a:xfrm>
            <a:off x="2725000" y="2910000"/>
            <a:ext cx="200100" cy="14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344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eaf3db5aa5_0_15"/>
          <p:cNvSpPr/>
          <p:nvPr/>
        </p:nvSpPr>
        <p:spPr>
          <a:xfrm>
            <a:off x="2950000" y="2750000"/>
            <a:ext cx="1149900" cy="459900"/>
          </a:xfrm>
          <a:prstGeom prst="roundRect">
            <a:avLst>
              <a:gd fmla="val 15000" name="adj"/>
            </a:avLst>
          </a:prstGeom>
          <a:solidFill>
            <a:srgbClr val="3FDA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3eaf3db5aa5_0_15"/>
          <p:cNvSpPr txBox="1"/>
          <p:nvPr/>
        </p:nvSpPr>
        <p:spPr>
          <a:xfrm>
            <a:off x="2950000" y="2750000"/>
            <a:ext cx="11499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0"/>
              <a:buFont typeface="Arial"/>
              <a:buNone/>
            </a:pPr>
            <a:r>
              <a:rPr b="1" i="0" lang="fr" sz="87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decide_retrain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0" i="0" lang="fr" sz="78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PSI &gt; seuil ?</a:t>
            </a:r>
            <a:endParaRPr/>
          </a:p>
        </p:txBody>
      </p:sp>
      <p:sp>
        <p:nvSpPr>
          <p:cNvPr id="137" name="Google Shape;137;g3eaf3db5aa5_0_15"/>
          <p:cNvSpPr/>
          <p:nvPr/>
        </p:nvSpPr>
        <p:spPr>
          <a:xfrm>
            <a:off x="4200000" y="1560000"/>
            <a:ext cx="60000" cy="2619900"/>
          </a:xfrm>
          <a:prstGeom prst="rect">
            <a:avLst/>
          </a:prstGeom>
          <a:solidFill>
            <a:srgbClr val="0E34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g3eaf3db5aa5_0_15"/>
          <p:cNvSpPr/>
          <p:nvPr/>
        </p:nvSpPr>
        <p:spPr>
          <a:xfrm>
            <a:off x="4260000" y="1540000"/>
            <a:ext cx="200100" cy="14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C0392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g3eaf3db5aa5_0_15"/>
          <p:cNvSpPr/>
          <p:nvPr/>
        </p:nvSpPr>
        <p:spPr>
          <a:xfrm>
            <a:off x="4260000" y="4060000"/>
            <a:ext cx="200100" cy="14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8E44AD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g3eaf3db5aa5_0_15"/>
          <p:cNvSpPr txBox="1"/>
          <p:nvPr/>
        </p:nvSpPr>
        <p:spPr>
          <a:xfrm>
            <a:off x="4460000" y="1110000"/>
            <a:ext cx="23001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C0392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DRIFT DÉTECTÉ — PSI &gt; seuil</a:t>
            </a:r>
            <a:endParaRPr/>
          </a:p>
        </p:txBody>
      </p:sp>
      <p:sp>
        <p:nvSpPr>
          <p:cNvPr id="141" name="Google Shape;141;g3eaf3db5aa5_0_15"/>
          <p:cNvSpPr txBox="1"/>
          <p:nvPr/>
        </p:nvSpPr>
        <p:spPr>
          <a:xfrm>
            <a:off x="4460000" y="3630000"/>
            <a:ext cx="1749900" cy="24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1" i="0" lang="fr" sz="1000" u="none" cap="none" strike="noStrike">
                <a:solidFill>
                  <a:srgbClr val="8E44AD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PAS DE DRIFT — skip</a:t>
            </a:r>
            <a:endParaRPr/>
          </a:p>
        </p:txBody>
      </p:sp>
      <p:sp>
        <p:nvSpPr>
          <p:cNvPr id="142" name="Google Shape;142;g3eaf3db5aa5_0_15"/>
          <p:cNvSpPr/>
          <p:nvPr/>
        </p:nvSpPr>
        <p:spPr>
          <a:xfrm>
            <a:off x="4460000" y="1380000"/>
            <a:ext cx="1149900" cy="459900"/>
          </a:xfrm>
          <a:prstGeom prst="roundRect">
            <a:avLst>
              <a:gd fmla="val 15000" name="adj"/>
            </a:avLst>
          </a:prstGeom>
          <a:solidFill>
            <a:srgbClr val="0E344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g3eaf3db5aa5_0_15"/>
          <p:cNvSpPr txBox="1"/>
          <p:nvPr/>
        </p:nvSpPr>
        <p:spPr>
          <a:xfrm>
            <a:off x="4460000" y="1380000"/>
            <a:ext cx="11499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0"/>
              <a:buFont typeface="Arial"/>
              <a:buNone/>
            </a:pPr>
            <a:r>
              <a:rPr b="1" i="0" lang="fr" sz="87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retrain_model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0" i="0" lang="fr" sz="78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XGBoost + Optuna</a:t>
            </a:r>
            <a:endParaRPr/>
          </a:p>
        </p:txBody>
      </p:sp>
      <p:sp>
        <p:nvSpPr>
          <p:cNvPr id="144" name="Google Shape;144;g3eaf3db5aa5_0_15"/>
          <p:cNvSpPr/>
          <p:nvPr/>
        </p:nvSpPr>
        <p:spPr>
          <a:xfrm>
            <a:off x="5635000" y="1540000"/>
            <a:ext cx="200100" cy="14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344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g3eaf3db5aa5_0_15"/>
          <p:cNvSpPr/>
          <p:nvPr/>
        </p:nvSpPr>
        <p:spPr>
          <a:xfrm>
            <a:off x="5860000" y="1380000"/>
            <a:ext cx="1149900" cy="459900"/>
          </a:xfrm>
          <a:prstGeom prst="roundRect">
            <a:avLst>
              <a:gd fmla="val 15000" name="adj"/>
            </a:avLst>
          </a:prstGeom>
          <a:solidFill>
            <a:srgbClr val="C3FFFC"/>
          </a:solidFill>
          <a:ln cap="flat" cmpd="sng" w="19050">
            <a:solidFill>
              <a:srgbClr val="0E34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g3eaf3db5aa5_0_15"/>
          <p:cNvSpPr txBox="1"/>
          <p:nvPr/>
        </p:nvSpPr>
        <p:spPr>
          <a:xfrm>
            <a:off x="5860000" y="1380000"/>
            <a:ext cx="11499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0"/>
              <a:buFont typeface="Arial"/>
              <a:buNone/>
            </a:pPr>
            <a:r>
              <a:rPr b="1" i="0" lang="fr" sz="87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validate_model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0" i="0" lang="fr" sz="78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F1 · Recall · AUC</a:t>
            </a:r>
            <a:endParaRPr/>
          </a:p>
        </p:txBody>
      </p:sp>
      <p:sp>
        <p:nvSpPr>
          <p:cNvPr id="147" name="Google Shape;147;g3eaf3db5aa5_0_15"/>
          <p:cNvSpPr/>
          <p:nvPr/>
        </p:nvSpPr>
        <p:spPr>
          <a:xfrm>
            <a:off x="7035000" y="1540000"/>
            <a:ext cx="200100" cy="1401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0E344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g3eaf3db5aa5_0_15"/>
          <p:cNvSpPr/>
          <p:nvPr/>
        </p:nvSpPr>
        <p:spPr>
          <a:xfrm>
            <a:off x="7260000" y="1380000"/>
            <a:ext cx="1149900" cy="459900"/>
          </a:xfrm>
          <a:prstGeom prst="roundRect">
            <a:avLst>
              <a:gd fmla="val 15000" name="adj"/>
            </a:avLst>
          </a:prstGeom>
          <a:solidFill>
            <a:srgbClr val="3FDAD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eaf3db5aa5_0_15"/>
          <p:cNvSpPr txBox="1"/>
          <p:nvPr/>
        </p:nvSpPr>
        <p:spPr>
          <a:xfrm>
            <a:off x="7260000" y="1380000"/>
            <a:ext cx="11499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0"/>
              <a:buFont typeface="Arial"/>
              <a:buNone/>
            </a:pPr>
            <a:r>
              <a:rPr b="1" i="0" lang="fr" sz="87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deploy_model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0" i="0" lang="fr" sz="78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MLflow Registry</a:t>
            </a:r>
            <a:endParaRPr/>
          </a:p>
        </p:txBody>
      </p:sp>
      <p:sp>
        <p:nvSpPr>
          <p:cNvPr id="150" name="Google Shape;150;g3eaf3db5aa5_0_15"/>
          <p:cNvSpPr txBox="1"/>
          <p:nvPr/>
        </p:nvSpPr>
        <p:spPr>
          <a:xfrm>
            <a:off x="8510000" y="1430000"/>
            <a:ext cx="5301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1" i="0" lang="fr" sz="1500" u="none" cap="none" strike="noStrike">
                <a:solidFill>
                  <a:srgbClr val="27AE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OK</a:t>
            </a:r>
            <a:endParaRPr/>
          </a:p>
        </p:txBody>
      </p:sp>
      <p:sp>
        <p:nvSpPr>
          <p:cNvPr id="151" name="Google Shape;151;g3eaf3db5aa5_0_15"/>
          <p:cNvSpPr/>
          <p:nvPr/>
        </p:nvSpPr>
        <p:spPr>
          <a:xfrm>
            <a:off x="6375000" y="1860000"/>
            <a:ext cx="120000" cy="1800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C0392B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3eaf3db5aa5_0_15"/>
          <p:cNvSpPr/>
          <p:nvPr/>
        </p:nvSpPr>
        <p:spPr>
          <a:xfrm>
            <a:off x="5860000" y="2040000"/>
            <a:ext cx="1149900" cy="3399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g3eaf3db5aa5_0_15"/>
          <p:cNvSpPr txBox="1"/>
          <p:nvPr/>
        </p:nvSpPr>
        <p:spPr>
          <a:xfrm>
            <a:off x="5860000" y="2040000"/>
            <a:ext cx="1149900" cy="33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0"/>
              <a:buFont typeface="Arial"/>
              <a:buNone/>
            </a:pPr>
            <a:r>
              <a:rPr b="1" i="0" lang="fr" sz="870" u="none" cap="none" strike="noStrike">
                <a:solidFill>
                  <a:srgbClr val="FFFFFF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notify_failure</a:t>
            </a:r>
            <a:endParaRPr/>
          </a:p>
        </p:txBody>
      </p:sp>
      <p:sp>
        <p:nvSpPr>
          <p:cNvPr id="154" name="Google Shape;154;g3eaf3db5aa5_0_15"/>
          <p:cNvSpPr/>
          <p:nvPr/>
        </p:nvSpPr>
        <p:spPr>
          <a:xfrm>
            <a:off x="4460000" y="3900000"/>
            <a:ext cx="1149900" cy="459900"/>
          </a:xfrm>
          <a:prstGeom prst="roundRect">
            <a:avLst>
              <a:gd fmla="val 15000" name="adj"/>
            </a:avLst>
          </a:prstGeom>
          <a:solidFill>
            <a:srgbClr val="FFFFFF"/>
          </a:solidFill>
          <a:ln cap="flat" cmpd="sng" w="25400">
            <a:solidFill>
              <a:srgbClr val="8E44A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eaf3db5aa5_0_15"/>
          <p:cNvSpPr txBox="1"/>
          <p:nvPr/>
        </p:nvSpPr>
        <p:spPr>
          <a:xfrm>
            <a:off x="4460000" y="3900000"/>
            <a:ext cx="1149900" cy="45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0"/>
              <a:buFont typeface="Arial"/>
              <a:buNone/>
            </a:pPr>
            <a:r>
              <a:rPr b="1" i="0" lang="fr" sz="870" u="none" cap="none" strike="noStrike">
                <a:solidFill>
                  <a:srgbClr val="0E3449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skip_retrain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Clr>
                <a:srgbClr val="000000"/>
              </a:buClr>
              <a:buSzPts val="780"/>
              <a:buFont typeface="Arial"/>
              <a:buNone/>
            </a:pPr>
            <a:r>
              <a:rPr b="0" i="0" lang="fr" sz="780" u="none" cap="none" strike="noStrike">
                <a:solidFill>
                  <a:srgbClr val="5A6A7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modèle inchangé</a:t>
            </a:r>
            <a:endParaRPr/>
          </a:p>
        </p:txBody>
      </p:sp>
      <p:sp>
        <p:nvSpPr>
          <p:cNvPr id="156" name="Google Shape;156;g3eaf3db5aa5_0_15"/>
          <p:cNvSpPr txBox="1"/>
          <p:nvPr/>
        </p:nvSpPr>
        <p:spPr>
          <a:xfrm>
            <a:off x="5810000" y="3930000"/>
            <a:ext cx="2000100" cy="399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fr" sz="1200" u="none" cap="none" strike="noStrike">
                <a:solidFill>
                  <a:srgbClr val="27AE60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OK — aucune action requise</a:t>
            </a:r>
            <a:endParaRPr/>
          </a:p>
        </p:txBody>
      </p:sp>
      <p:sp>
        <p:nvSpPr>
          <p:cNvPr id="157" name="Google Shape;157;g3eaf3db5aa5_0_15"/>
          <p:cNvSpPr/>
          <p:nvPr/>
        </p:nvSpPr>
        <p:spPr>
          <a:xfrm>
            <a:off x="300000" y="4760000"/>
            <a:ext cx="8544000" cy="260100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3FDAD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g3eaf3db5aa5_0_15"/>
          <p:cNvSpPr txBox="1"/>
          <p:nvPr/>
        </p:nvSpPr>
        <p:spPr>
          <a:xfrm>
            <a:off x="350000" y="4760000"/>
            <a:ext cx="8444100" cy="260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b="0" i="0" lang="fr" sz="1050" u="none" cap="none" strike="noStrike">
                <a:solidFill>
                  <a:srgbClr val="5A6A77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10 tâches  ·  Réentraînement si PSI &gt; 0.10  ·  Résultat enregistré dans MLflow  ·  Notification webhook Slack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45774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6"/>
          <p:cNvSpPr txBox="1"/>
          <p:nvPr>
            <p:ph idx="4294967295" type="ctrTitle"/>
          </p:nvPr>
        </p:nvSpPr>
        <p:spPr>
          <a:xfrm>
            <a:off x="1390625" y="1039500"/>
            <a:ext cx="6362700" cy="318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fr" sz="3200" u="none" cap="none" strike="noStrike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“ </a:t>
            </a:r>
            <a:r>
              <a:rPr lang="fr" sz="3200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grâce à ce modèle</a:t>
            </a:r>
            <a:r>
              <a:rPr b="0" i="0" lang="fr" sz="3200" u="none" cap="none" strike="noStrike">
                <a:solidFill>
                  <a:srgbClr val="FFFFFF"/>
                </a:solidFill>
                <a:latin typeface="Libre Baskerville"/>
                <a:ea typeface="Libre Baskerville"/>
                <a:cs typeface="Libre Baskerville"/>
                <a:sym typeface="Libre Baskerville"/>
              </a:rPr>
              <a:t> 87% des fraudes détectées — ROC-AUC 0.981 sur 300K transactions ”</a:t>
            </a:r>
            <a:endParaRPr b="0" i="0" sz="3200" u="none" cap="none" strike="noStrike">
              <a:solidFill>
                <a:srgbClr val="FFFFFF"/>
              </a:solidFill>
              <a:latin typeface="Libre Baskerville"/>
              <a:ea typeface="Libre Baskerville"/>
              <a:cs typeface="Libre Baskerville"/>
              <a:sym typeface="Libre Baskerville"/>
            </a:endParaRPr>
          </a:p>
        </p:txBody>
      </p:sp>
      <p:pic>
        <p:nvPicPr>
          <p:cNvPr id="164" name="Google Shape;16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3375" y="482850"/>
            <a:ext cx="576900" cy="3927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DBD0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eaf3db5aa5_0_0"/>
          <p:cNvSpPr/>
          <p:nvPr/>
        </p:nvSpPr>
        <p:spPr>
          <a:xfrm>
            <a:off x="585216" y="1370335"/>
            <a:ext cx="7955400" cy="1096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3449"/>
              </a:buClr>
              <a:buSzPts val="5600"/>
              <a:buFont typeface="Calibri"/>
              <a:buNone/>
            </a:pPr>
            <a:r>
              <a:rPr b="1" lang="fr" sz="5600">
                <a:solidFill>
                  <a:srgbClr val="0E3449"/>
                </a:solidFill>
                <a:latin typeface="Calibri"/>
                <a:ea typeface="Calibri"/>
                <a:cs typeface="Calibri"/>
                <a:sym typeface="Calibri"/>
              </a:rPr>
              <a:t>Merci !</a:t>
            </a:r>
            <a:endParaRPr sz="5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g3eaf3db5aa5_0_0"/>
          <p:cNvSpPr/>
          <p:nvPr/>
        </p:nvSpPr>
        <p:spPr>
          <a:xfrm>
            <a:off x="585216" y="3471514"/>
            <a:ext cx="7955400" cy="456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fr" sz="1600">
                <a:solidFill>
                  <a:srgbClr val="0E3449"/>
                </a:solidFill>
                <a:latin typeface="Calibri"/>
                <a:ea typeface="Calibri"/>
                <a:cs typeface="Calibri"/>
                <a:sym typeface="Calibri"/>
              </a:rPr>
              <a:t>AIA - Selma ROCHET - Février 2026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g3eaf3db5aa5_0_0"/>
          <p:cNvSpPr/>
          <p:nvPr/>
        </p:nvSpPr>
        <p:spPr>
          <a:xfrm>
            <a:off x="8503920" y="4787035"/>
            <a:ext cx="457200" cy="31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E3449"/>
              </a:buClr>
              <a:buSzPts val="1200"/>
              <a:buFont typeface="Calibri"/>
              <a:buNone/>
            </a:pPr>
            <a:r>
              <a:rPr b="1" lang="fr" sz="1200">
                <a:solidFill>
                  <a:srgbClr val="0E3449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