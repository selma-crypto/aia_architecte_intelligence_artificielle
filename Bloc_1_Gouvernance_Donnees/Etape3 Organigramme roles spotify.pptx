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45720"/>
            <a:ext cx="1188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SPOTIFY — Organigramme de Gouvernance des Données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82880" y="34747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AIA — Bloc 1 | Version 2.0 | Mai 2026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0" y="59436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1A1A2E"/>
          </a:solidFill>
          <a:ln w="6350">
            <a:solidFill>
              <a:srgbClr val="1A1A2E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937760" y="594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COMEX</a:t>
            </a:r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Exécutif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080760" y="1005840"/>
            <a:ext cx="0" cy="22860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234440"/>
            <a:ext cx="740664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1234440"/>
            <a:ext cx="0" cy="13716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1234440"/>
            <a:ext cx="0" cy="13716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92640" y="1234440"/>
            <a:ext cx="0" cy="13716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80160" y="137160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1DB954"/>
          </a:solidFill>
          <a:ln w="6350">
            <a:solidFill>
              <a:srgbClr val="1DB95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80160" y="1371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CDO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Data Officer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0" y="137160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6C2DC7"/>
          </a:solidFill>
          <a:ln w="6350">
            <a:solidFill>
              <a:srgbClr val="6C2DC7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20640" y="1371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Officer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0" y="137160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0" y="1371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Information Security Officer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180136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6C2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Indépendant (Art. 38 RGPD)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2286000" y="1783080"/>
            <a:ext cx="0" cy="18288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63040" y="1965960"/>
            <a:ext cx="288036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63040" y="1965960"/>
            <a:ext cx="0" cy="18288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43400" y="1965960"/>
            <a:ext cx="0" cy="18288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" y="2148840"/>
            <a:ext cx="2651760" cy="365760"/>
          </a:xfrm>
          <a:prstGeom prst="roundRect">
            <a:avLst>
              <a:gd name="adj" fmla="val 20000"/>
            </a:avLst>
          </a:prstGeom>
          <a:solidFill>
            <a:srgbClr val="1A1A2E"/>
          </a:solidFill>
          <a:ln w="6350">
            <a:solidFill>
              <a:srgbClr val="1A1A2E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37160" y="2148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de Gouvernance</a:t>
            </a:r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CDO · DPO · CISO · Métiers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017520" y="2148840"/>
            <a:ext cx="2651760" cy="36576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017520" y="2148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d'Excellence Data</a:t>
            </a:r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· Conformité · Sécurité · Architecture · Littératie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286000" y="1965960"/>
            <a:ext cx="438912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75120" y="1965960"/>
            <a:ext cx="0" cy="18288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97880" y="214884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E67E22"/>
          </a:solidFill>
          <a:ln w="6350">
            <a:solidFill>
              <a:srgbClr val="E67E22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897880" y="214884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Manager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675120" y="2459736"/>
            <a:ext cx="0" cy="11887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578608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E67E22"/>
          </a:solidFill>
          <a:ln w="6350">
            <a:solidFill>
              <a:srgbClr val="E67E22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897880" y="257860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Auditor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675120" y="2889504"/>
            <a:ext cx="0" cy="11887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97880" y="3008376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E67E22"/>
          </a:solidFill>
          <a:ln w="6350">
            <a:solidFill>
              <a:srgbClr val="E67E22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897880" y="3008376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Manager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286000" y="1965960"/>
            <a:ext cx="608076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66760" y="1965960"/>
            <a:ext cx="0" cy="18288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35240" y="21488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635240" y="21488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Formateurs Data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8366760" y="2496312"/>
            <a:ext cx="0" cy="82296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35240" y="2578608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635240" y="257860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BI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9692640" y="1783080"/>
            <a:ext cx="0" cy="18288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149840" y="1965960"/>
            <a:ext cx="-45720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149840" y="1965960"/>
            <a:ext cx="0" cy="18288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326880" y="214884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9326880" y="21488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82980" y="3401568"/>
            <a:ext cx="548640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82980" y="3401568"/>
            <a:ext cx="0" cy="9144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37160" y="3493008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1DB954"/>
          </a:solidFill>
          <a:ln w="6350">
            <a:solidFill>
              <a:srgbClr val="1DB95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137160" y="349300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Owner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Streaming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2811780" y="3401568"/>
            <a:ext cx="0" cy="9144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65960" y="3493008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1DB954"/>
          </a:solidFill>
          <a:ln w="6350">
            <a:solidFill>
              <a:srgbClr val="1DB95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1965960" y="349300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Owner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Paiements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4640580" y="3401568"/>
            <a:ext cx="0" cy="9144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794760" y="3493008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1DB954"/>
          </a:solidFill>
          <a:ln w="6350">
            <a:solidFill>
              <a:srgbClr val="1DB95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3794760" y="349300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Owner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Artistes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469380" y="3401568"/>
            <a:ext cx="0" cy="9144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623560" y="3493008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1DB954"/>
          </a:solidFill>
          <a:ln w="6350">
            <a:solidFill>
              <a:srgbClr val="1DB95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5623560" y="349300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Owner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Marketing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1463040" y="2514600"/>
            <a:ext cx="0" cy="886968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82980" y="3840480"/>
            <a:ext cx="0" cy="18288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37160" y="4023360"/>
            <a:ext cx="1691640" cy="320040"/>
          </a:xfrm>
          <a:prstGeom prst="roundRect">
            <a:avLst>
              <a:gd name="adj" fmla="val 22857"/>
            </a:avLst>
          </a:prstGeom>
          <a:solidFill>
            <a:srgbClr val="2980B9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137160" y="40233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Steward(s)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2811780" y="3840480"/>
            <a:ext cx="0" cy="18288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965960" y="4023360"/>
            <a:ext cx="1691640" cy="320040"/>
          </a:xfrm>
          <a:prstGeom prst="roundRect">
            <a:avLst>
              <a:gd name="adj" fmla="val 22857"/>
            </a:avLst>
          </a:prstGeom>
          <a:solidFill>
            <a:srgbClr val="2980B9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1965960" y="40233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Steward(s)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4640580" y="3840480"/>
            <a:ext cx="0" cy="18288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794760" y="4023360"/>
            <a:ext cx="1691640" cy="320040"/>
          </a:xfrm>
          <a:prstGeom prst="roundRect">
            <a:avLst>
              <a:gd name="adj" fmla="val 22857"/>
            </a:avLst>
          </a:prstGeom>
          <a:solidFill>
            <a:srgbClr val="2980B9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3794760" y="40233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Steward(s)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6469380" y="3840480"/>
            <a:ext cx="0" cy="18288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623560" y="4023360"/>
            <a:ext cx="1691640" cy="320040"/>
          </a:xfrm>
          <a:prstGeom prst="roundRect">
            <a:avLst>
              <a:gd name="adj" fmla="val 22857"/>
            </a:avLst>
          </a:prstGeom>
          <a:solidFill>
            <a:srgbClr val="2980B9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5623560" y="40233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Steward(s)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137160" y="4544568"/>
            <a:ext cx="1691640" cy="301752"/>
          </a:xfrm>
          <a:prstGeom prst="roundRect">
            <a:avLst>
              <a:gd name="adj" fmla="val 24242"/>
            </a:avLst>
          </a:prstGeom>
          <a:solidFill>
            <a:srgbClr val="34495E"/>
          </a:solidFill>
          <a:ln w="6350">
            <a:solidFill>
              <a:srgbClr val="34495E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137160" y="4544568"/>
            <a:ext cx="1691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Engineers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1965960" y="4544568"/>
            <a:ext cx="1691640" cy="301752"/>
          </a:xfrm>
          <a:prstGeom prst="roundRect">
            <a:avLst>
              <a:gd name="adj" fmla="val 24242"/>
            </a:avLst>
          </a:prstGeom>
          <a:solidFill>
            <a:srgbClr val="34495E"/>
          </a:solidFill>
          <a:ln w="6350">
            <a:solidFill>
              <a:srgbClr val="34495E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1965960" y="4544568"/>
            <a:ext cx="1691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Scientists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3794760" y="4544568"/>
            <a:ext cx="1691640" cy="301752"/>
          </a:xfrm>
          <a:prstGeom prst="roundRect">
            <a:avLst>
              <a:gd name="adj" fmla="val 24242"/>
            </a:avLst>
          </a:prstGeom>
          <a:solidFill>
            <a:srgbClr val="7F8C8D"/>
          </a:solidFill>
          <a:ln w="6350">
            <a:solidFill>
              <a:srgbClr val="7F8C8D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3794760" y="4544568"/>
            <a:ext cx="1691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Users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(Métiers)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5623560" y="4544568"/>
            <a:ext cx="1691640" cy="301752"/>
          </a:xfrm>
          <a:prstGeom prst="roundRect">
            <a:avLst>
              <a:gd name="adj" fmla="val 24242"/>
            </a:avLst>
          </a:prstGeom>
          <a:solidFill>
            <a:srgbClr val="7F8C8D"/>
          </a:solidFill>
          <a:ln w="6350">
            <a:solidFill>
              <a:srgbClr val="7F8C8D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5623560" y="4544568"/>
            <a:ext cx="1691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 (API)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982980" y="4343400"/>
            <a:ext cx="0" cy="201168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811780" y="4343400"/>
            <a:ext cx="0" cy="201168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640580" y="4343400"/>
            <a:ext cx="0" cy="201168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469380" y="4343400"/>
            <a:ext cx="0" cy="201168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589520" y="347472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Légende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7589520" y="3712464"/>
            <a:ext cx="137160" cy="1371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772400" y="3703320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 stratégique (COMEX)</a:t>
            </a:r>
            <a:endParaRPr lang="en-US" sz="650" dirty="0"/>
          </a:p>
        </p:txBody>
      </p:sp>
      <p:sp>
        <p:nvSpPr>
          <p:cNvPr id="90" name="Shape 88"/>
          <p:cNvSpPr/>
          <p:nvPr/>
        </p:nvSpPr>
        <p:spPr>
          <a:xfrm>
            <a:off x="7589520" y="3922776"/>
            <a:ext cx="137160" cy="13716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772400" y="3913632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CDO — Stratégie &amp; coordination data</a:t>
            </a:r>
            <a:endParaRPr lang="en-US" sz="650" dirty="0"/>
          </a:p>
        </p:txBody>
      </p:sp>
      <p:sp>
        <p:nvSpPr>
          <p:cNvPr id="92" name="Shape 90"/>
          <p:cNvSpPr/>
          <p:nvPr/>
        </p:nvSpPr>
        <p:spPr>
          <a:xfrm>
            <a:off x="7589520" y="4133088"/>
            <a:ext cx="137160" cy="137160"/>
          </a:xfrm>
          <a:prstGeom prst="rect">
            <a:avLst/>
          </a:prstGeom>
          <a:solidFill>
            <a:srgbClr val="6C2DC7"/>
          </a:solidFill>
          <a:ln w="12700">
            <a:solidFill>
              <a:srgbClr val="6C2DC7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772400" y="412394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— Conformité RGPD (indépendant)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7589520" y="4343400"/>
            <a:ext cx="137160" cy="137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772400" y="4334256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 — Sécurité des données</a:t>
            </a:r>
            <a:endParaRPr lang="en-US" sz="650" dirty="0"/>
          </a:p>
        </p:txBody>
      </p:sp>
      <p:sp>
        <p:nvSpPr>
          <p:cNvPr id="96" name="Shape 94"/>
          <p:cNvSpPr/>
          <p:nvPr/>
        </p:nvSpPr>
        <p:spPr>
          <a:xfrm>
            <a:off x="7589520" y="4553712"/>
            <a:ext cx="137160" cy="1371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772400" y="4544568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d'Excellence Data (COE)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7589520" y="4764024"/>
            <a:ext cx="137160" cy="1371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772400" y="4754880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spécialisées (Compliance, Audit, Qualité)</a:t>
            </a:r>
            <a:endParaRPr lang="en-US" sz="650" dirty="0"/>
          </a:p>
        </p:txBody>
      </p:sp>
      <p:sp>
        <p:nvSpPr>
          <p:cNvPr id="100" name="Shape 98"/>
          <p:cNvSpPr/>
          <p:nvPr/>
        </p:nvSpPr>
        <p:spPr>
          <a:xfrm>
            <a:off x="7589520" y="4974336"/>
            <a:ext cx="137160" cy="13716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772400" y="4965192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(Formateurs, BI)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7589520" y="5184648"/>
            <a:ext cx="137160" cy="13716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772400" y="517550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Owners par département</a:t>
            </a:r>
            <a:endParaRPr lang="en-US" sz="650" dirty="0"/>
          </a:p>
        </p:txBody>
      </p:sp>
      <p:sp>
        <p:nvSpPr>
          <p:cNvPr id="104" name="Shape 102"/>
          <p:cNvSpPr/>
          <p:nvPr/>
        </p:nvSpPr>
        <p:spPr>
          <a:xfrm>
            <a:off x="7589520" y="5394960"/>
            <a:ext cx="137160" cy="13716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772400" y="5385816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Stewards opérationnels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7589520" y="5605272"/>
            <a:ext cx="137160" cy="137160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772400" y="5596128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Engineers / Scientists</a:t>
            </a:r>
            <a:endParaRPr lang="en-US" sz="650" dirty="0"/>
          </a:p>
        </p:txBody>
      </p:sp>
      <p:sp>
        <p:nvSpPr>
          <p:cNvPr id="108" name="Shape 106"/>
          <p:cNvSpPr/>
          <p:nvPr/>
        </p:nvSpPr>
        <p:spPr>
          <a:xfrm>
            <a:off x="7589520" y="5815584"/>
            <a:ext cx="137160" cy="137160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772400" y="5806440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Users &amp; Développeurs tiers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1188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SPOTIFY — Matrice des Rôles de Gouvernance des Données (15 rôles)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82880" y="329184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AIA — Bloc 1 | Version 2.0 | Mai 2026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548640"/>
          <a:ext cx="11795760" cy="603504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6400800"/>
                <a:gridCol w="22860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Niveau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Responsabilités clés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Périmètre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i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Stratégique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et budget du programme de gouvernance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Organisation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B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i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Stratégique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B9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Stratégie data, pilotage programme, animation du Comité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Organisation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D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i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Stratégique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D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Conformité RGPD, DSR, notification violations (Art.38 RGPD)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 PII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i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Stratégique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Sécurité SI, incidents, MFA, SIEM, audit API tiers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 sensibles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Manager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i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Opérationnel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Suivi CCPA, PCI-DSS, réglementations locales, audits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Toute réglementation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Architect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i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data mesh, data contracts, lineage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Systèmes &amp; pipelines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Auditor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i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Contrôle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Contrôle indépendant du respect des politiques, rapports trimestriels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Tous domaines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Quality Manager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i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Opérationnel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DQ Score, règles de validation Ataccama ONE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Tous datasets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Formateurs Data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i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Literacy pour équipes non-techniques (3 niveaux)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Tous collaborateurs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Équipe BI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i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Dashboards Power BI, KPIs gouvernance, reporting COMEX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Métriques &amp; rapports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Gov. Committee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i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Gouvernance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politiques, arbitrage, révision semestrielle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Transversal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Owner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B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i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Opérationnel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B9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Responsabilité métier des données d'un domaine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Domaine assigné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Steward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i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Opérationnel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Qualité, documentation, gestion des accès au quotidien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Datasets assignés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Engineer/Scientist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i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Pipelines, modèles ML, data contracts, producteurs de données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Systèmes data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Users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8C8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i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Utilisateurs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8C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Consommation des données, remontée des anomalies qualité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 autorisées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1188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SPOTIFY — Centre d'Excellence Data (COE) — Structure et Domaines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82880" y="329184"/>
            <a:ext cx="1188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Centre d'Excellence Data coordonne les 5 domaines transversaux de la gouvernance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754880" y="64008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1565C0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0" y="6400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d'Excellence Data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la responsabilité du CDO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08760" y="1143000"/>
            <a:ext cx="0" cy="41148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69080" y="1143000"/>
            <a:ext cx="0" cy="41148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143000"/>
            <a:ext cx="0" cy="41148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75320" y="1143000"/>
            <a:ext cx="0" cy="41148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52760" y="1143000"/>
            <a:ext cx="0" cy="41148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08760" y="1143000"/>
            <a:ext cx="91440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0760" y="1143000"/>
            <a:ext cx="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55448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59105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Qualité des données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810512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Ataccama ONE déployé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57200" y="1975104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DQ Score par dataset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457200" y="2139696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quality gates Kafka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457200" y="2304288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Métriques de qualité COMEX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926080" y="155448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6C2DC7"/>
          </a:solidFill>
          <a:ln w="12700">
            <a:solidFill>
              <a:srgbClr val="6C2D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0" y="159105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Conformité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017520" y="1810512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OneTrust (DSR RGPD/CCPA)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3017520" y="1975104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ROPA trimestriel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3017520" y="2139696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PCI-DSS annuel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3017520" y="2304288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EU AI Act (2025-2027)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5029200" y="155448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159105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Sécurité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120640" y="1810512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Splunk SIEM temps réel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5120640" y="1975104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MFA obligatoire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5120640" y="2139696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API tiers (400k+)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5120640" y="2304288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ISO 27001 en cours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7132320" y="155448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0" y="159105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Architecture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223760" y="1810512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Mesh + data contracts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7223760" y="1975104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DataHub pour le lineage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7223760" y="2139696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Alation (catalogage)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7223760" y="2304288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Confluent Schema Registry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9418320" y="155448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418320" y="159105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Littératie Data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9509760" y="1810512"/>
            <a:ext cx="2331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niveaux de formation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9509760" y="1975104"/>
            <a:ext cx="2331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Champions certifiés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9509760" y="2139696"/>
            <a:ext cx="2331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Canal Slack #data-literacy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9509760" y="2304288"/>
            <a:ext cx="2331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Notion knowledge base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365760" y="278892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organisationnel : Data Mesh avec gouvernance centralisée (Federated Governance)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310896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316382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Stratégique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02920" y="343814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COMEX — Autorité ultime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02920" y="367588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CDO — Stratégie globale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02920" y="391363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DPO — Conformité RGPD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02920" y="415137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CISO — Sécurité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02920" y="438912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Gov. Committee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297680" y="310896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97680" y="316382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Tactique / COE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434840" y="343814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Compliance Manager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4434840" y="367588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Architect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4434840" y="391363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Auditor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434840" y="415137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Quality Manager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434840" y="438912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Formateurs + Équipe BI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8229600" y="3108960"/>
            <a:ext cx="3749040" cy="1645920"/>
          </a:xfrm>
          <a:prstGeom prst="roundRect">
            <a:avLst>
              <a:gd name="adj" fmla="val 5556"/>
            </a:avLst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229600" y="316382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Opérationnel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366760" y="3438144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Owners (par domaine)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8366760" y="367588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Stewards (par dataset)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8366760" y="391363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Engineers / Scientists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8366760" y="415137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Users (consommateurs)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8366760" y="438912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Développeurs API tiers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182880" y="6675120"/>
            <a:ext cx="1188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Rochet — Jedha Bootcamp — Certification AIA — Mai 2026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2026-05-22T19:36:21Z</dcterms:created>
  <dcterms:modified xsi:type="dcterms:W3CDTF">2026-05-22T19:36:21Z</dcterms:modified>
</cp:coreProperties>
</file>