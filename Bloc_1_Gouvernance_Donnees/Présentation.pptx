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32F626-7808-4A44-8461-DEF7BF972A19}" v="45" dt="2026-06-06T15:44:06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304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6238" y="0"/>
            <a:ext cx="223043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5221E-FCB4-49C3-9249-C50D665B65AD}" type="datetimeFigureOut">
              <a:t>06/06/2026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65100" y="1143000"/>
            <a:ext cx="547846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9563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304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6238" y="8685213"/>
            <a:ext cx="2230437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7148C-0BC2-43EE-8A6F-00DF744E22D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247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18872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– Gouvernance des données</a:t>
            </a:r>
            <a:endParaRPr lang="en-US" sz="3200" dirty="0"/>
          </a:p>
          <a:p>
            <a:pPr marL="0" indent="0" algn="l">
              <a:buNone/>
            </a:pPr>
            <a:r>
              <a:rPr lang="en-US" sz="32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8709" y="4220364"/>
            <a:ext cx="79552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AIA -Selma Rochet - Février 2026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6" name="Image 5" descr="Une image contenant dessin humoristique, clipart, illustration, conception&#10;&#10;Le contenu généré par l’IA peut être incorrect.">
            <a:extLst>
              <a:ext uri="{FF2B5EF4-FFF2-40B4-BE49-F238E27FC236}">
                <a16:creationId xmlns:a16="http://schemas.microsoft.com/office/drawing/2014/main" id="{51C18369-5EB6-A6D8-20D3-CEB1E21E3E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92" b="-288"/>
          <a:stretch>
            <a:fillRect/>
          </a:stretch>
        </p:blipFill>
        <p:spPr>
          <a:xfrm>
            <a:off x="4225793" y="2140362"/>
            <a:ext cx="4507628" cy="30055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au cœur de Spotify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20700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972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= leader mondial du streaming musical — 602 M d'utilisateurs dans 184 pays → un géant de la donnée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61848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087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critiques : utilisateurs, artistes, playlists, comportements d'écoute (500 Md événements/jour), paiements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202996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202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d'alarme : sanction RGPD de l'IMY (Suède) — €5,4 M d'amende — décembre 2023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244144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3317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du projet : garantir qualité, conformité, éthique et valeur sur l'ensemble du cycle de vie des données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" y="294436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8803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en 3 étapes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" y="3310128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3FDAD2"/>
          </a:solidFill>
          <a:ln w="12700">
            <a:solidFill>
              <a:srgbClr val="3FDA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" y="3657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maturité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310128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3FDAD2"/>
          </a:solidFill>
          <a:ln w="12700">
            <a:solidFill>
              <a:srgbClr val="3FDA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657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du cadre de gouvernance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310128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3FDAD2"/>
          </a:solidFill>
          <a:ln w="12700">
            <a:solidFill>
              <a:srgbClr val="3FD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6576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pilote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maturité : État initial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188720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789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globale : 2,3 / 5 → stade Réactif — pratiques hétérogènes, gouvernance non formalisée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61848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087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: culture data-driven, infrastructure GCP + Kafka robuste, DPO nommé, conformité amorcée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2048256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385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 : absence de CDO, silos inter-squads, qualité non mesurée, métadonnées non gérées (score 1/5)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2478024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3682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dimensions DMBOK v3 évaluées — dont Métadonnées identifiée comme dimension critique absente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2816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dimensions les plus critiques 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" y="31272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3163824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3163824"/>
            <a:ext cx="731520" cy="1828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1272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" y="3419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456432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456432"/>
            <a:ext cx="1463040" cy="1828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419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" y="3712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3749040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3749040"/>
            <a:ext cx="1463040" cy="1828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712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" y="4005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Accès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4041648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4041648"/>
            <a:ext cx="1463040" cy="1828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40050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" y="4297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Littératie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4334256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4334256"/>
            <a:ext cx="1463040" cy="1828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42976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nécessité d'une gouvernance structurée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20700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972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RGPD 2023 (€5,4 M — IMY Suède) : signal direct sur l'insuffisance de transparence des traitements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645920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361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et absence de vision unifiée des données à travers 700+ microservices et 184 marchés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2084832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7510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non-conformité croissant : RGPD, CCPA, PCI-DSS, EU AI Act (2025-2027)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2523744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41401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qualité, de traçabilité et de rôles définis — aucun CDO, pas de Data Council formel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" y="2962656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85292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data inégale : excellence technique chez les Engineers, mais littératie faible dans les équipes métier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" y="336499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01568"/>
            <a:ext cx="7909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L'ambition est de transformer cette culture data réactive en culture gouvernée, mesurable et conforme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du nouveau cadre de gouvernance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143000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789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directeurs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5544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3FDAD2"/>
          </a:solidFill>
          <a:ln w="12700">
            <a:solidFill>
              <a:srgbClr val="3FDA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Responsabilité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8144" y="15544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3FDAD2"/>
          </a:solidFill>
          <a:ln w="12700">
            <a:solidFill>
              <a:srgbClr val="3FDA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Transparence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5544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3FDAD2"/>
          </a:solidFill>
          <a:ln w="12700">
            <a:solidFill>
              <a:srgbClr val="3FDA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554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Sécurité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" y="2395728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DC7A0"/>
          </a:solidFill>
          <a:ln w="12700">
            <a:solidFill>
              <a:srgbClr val="2DC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3957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Qualité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38144" y="2395728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DC7A0"/>
          </a:solidFill>
          <a:ln w="12700">
            <a:solidFill>
              <a:srgbClr val="2DC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23957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Conformité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1072" y="2395728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2DC7A0"/>
          </a:solidFill>
          <a:ln w="12700">
            <a:solidFill>
              <a:srgbClr val="2DC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3957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Minimisation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" y="3236976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3697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Droits utilisateurs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38144" y="3236976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323697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Amélioration continue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91072" y="3236976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323697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Éthique &amp; 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78808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nouveau cadre global, éthique, transparent et conforme assure la qualité, la sécurité et la maîtrise de l'information tout en soutenant l'innovation. À réviser semestriellement 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responsabilités : un travail collectif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11556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51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rôles identifiés sur 3 niveaux — de la stratégie à l'opérationnel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48132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E3449"/>
          </a:solidFill>
          <a:ln w="12700">
            <a:solidFill>
              <a:srgbClr val="0E3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Stratégique — COMEX · CDO · DPO (indépendant, Art. 38 RGPD) · CISO · Data Governance Committee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" y="22128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3FDAD2"/>
          </a:solidFill>
          <a:ln w="12700">
            <a:solidFill>
              <a:srgbClr val="3FDA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COE / Tactique — Compliance Manager · Data Architect · Data Auditor · Data Quality Manager · Formateurs · Équipe BI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" y="294436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Opérationnel — Data Owners · Data Stewards · Data Engineers · Data Scientists · Data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" y="3730752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66674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DPO rapporte directement au COMEX (indépendance garantie par l'Art. 38 du RGPD)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" y="4096512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03250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Centre d'Excellence Data (COE) coordonne les 5 domaines transversaux : Qualité, Conformité, Sécurité, Architecture, Littératie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opérationnels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11556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4241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du </a:t>
            </a:r>
            <a:r>
              <a:rPr lang="en-US" sz="14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d'Excellence (CoE)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pilotage centralisé, exécution décentralisée, accompagnement métier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463040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3990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retenus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187452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8FDFB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7452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Catalogue et lineage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" y="2221992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Juillet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64608" y="187452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8FDFB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4336" y="187452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Ataccama ONE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Qualité automatisée (DQ Score + Kafka gates)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74336" y="2221992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Août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2532888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8FDFB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532888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OneTrust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Conformité RGPD/CCPA (DSR automatisés, ROPA)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" y="2880360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Septembre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64608" y="2532888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F0F0F0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532888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Sécurité et supervision (SIEM temps réel)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4336" y="2880360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Novembre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" y="3191256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F0F0F0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191256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Suivi des indicateurs de gouvernance (COMEX)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" y="353872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Janvier 2027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64608" y="3191256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F0F0F0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3191256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+ Jira</a:t>
            </a: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Documentation et pilotage projet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74336" y="353872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D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Juin 2026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" y="4023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416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modernes, intégrés et accessibles — compatibles GCP, Kafka et Data Mesh — pour rendre la gouvernance concrète et mesurable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pilote « User Engagement Data 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188720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7899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périmètre restreint : données d'engagement (écoutes, interactions, feedbacks, préférences)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591056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4813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dédiée : John Lemon (Data Steward), Michael JSON (Data Engineer), Taylor Script (Data Analyst), Elton Log (Compliance), Kurt Contain (CISO)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2139696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0299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 Catalogue Alation opérationnel, DQ Score Ataccama ONE, DSR OneTrust actifs, Dashboard Power BI KPIs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2542032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43230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agile : 8 semaines · 13 jalons datés (02/06/2026 → Go-live 08/09/2026) · retour d'expérience intégré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" y="2962656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8986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clés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" y="3767328"/>
            <a:ext cx="8229600" cy="0"/>
          </a:xfrm>
          <a:prstGeom prst="line">
            <a:avLst/>
          </a:prstGeom>
          <a:noFill/>
          <a:ln w="25400">
            <a:solidFill>
              <a:srgbClr val="3FDA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3694176"/>
            <a:ext cx="182880" cy="182880"/>
          </a:xfrm>
          <a:prstGeom prst="ellipse">
            <a:avLst/>
          </a:prstGeom>
          <a:solidFill>
            <a:srgbClr val="0E3449"/>
          </a:solidFill>
          <a:ln w="12700">
            <a:solidFill>
              <a:srgbClr val="0E3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" y="3913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57984" y="3694176"/>
            <a:ext cx="182880" cy="182880"/>
          </a:xfrm>
          <a:prstGeom prst="ellipse">
            <a:avLst/>
          </a:prstGeom>
          <a:solidFill>
            <a:srgbClr val="0E3449"/>
          </a:solidFill>
          <a:ln w="12700">
            <a:solidFill>
              <a:srgbClr val="0E3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11096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16/06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11096" y="3913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03904" y="3694176"/>
            <a:ext cx="182880" cy="182880"/>
          </a:xfrm>
          <a:prstGeom prst="ellipse">
            <a:avLst/>
          </a:prstGeom>
          <a:solidFill>
            <a:srgbClr val="0E3449"/>
          </a:solidFill>
          <a:ln w="12700">
            <a:solidFill>
              <a:srgbClr val="0E3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57016" y="3913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9824" y="3694176"/>
            <a:ext cx="182880" cy="182880"/>
          </a:xfrm>
          <a:prstGeom prst="ellipse">
            <a:avLst/>
          </a:prstGeom>
          <a:solidFill>
            <a:srgbClr val="0E3449"/>
          </a:solidFill>
          <a:ln w="12700">
            <a:solidFill>
              <a:srgbClr val="0E3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2936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02936" y="3913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95744" y="3694176"/>
            <a:ext cx="182880" cy="182880"/>
          </a:xfrm>
          <a:prstGeom prst="ellipse">
            <a:avLst/>
          </a:prstGeom>
          <a:solidFill>
            <a:srgbClr val="0E3449"/>
          </a:solidFill>
          <a:ln w="12700">
            <a:solidFill>
              <a:srgbClr val="0E3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48856" y="3913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mi-parcours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741664" y="3694176"/>
            <a:ext cx="182880" cy="182880"/>
          </a:xfrm>
          <a:prstGeom prst="ellipse">
            <a:avLst/>
          </a:prstGeom>
          <a:solidFill>
            <a:srgbClr val="0E3449"/>
          </a:solidFill>
          <a:ln w="12700">
            <a:solidFill>
              <a:srgbClr val="0E3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3291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94776" y="39136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4754880"/>
            <a:ext cx="9125712" cy="384048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d'avenir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115568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051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disposera d'un cadre de gouvernance robuste, mesurable et duplicable à l'ensemble de l'organisation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627632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6362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1993392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2938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Extension à tous les domaines (Marketing, Finance, Podcasts, Publicités, IA)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" y="2432304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36829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Gouvernance continue et Data Literacy à grande échelle (50+ Data Champions certifiés)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" y="2871216"/>
            <a:ext cx="265176" cy="45720"/>
          </a:xfrm>
          <a:prstGeom prst="rect">
            <a:avLst/>
          </a:prstGeom>
          <a:solidFill>
            <a:srgbClr val="C3FFFC"/>
          </a:solidFill>
          <a:ln w="12700">
            <a:solidFill>
              <a:srgbClr val="C3FF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80720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Vers une approche Data Mesh pleinement gouvernée — maturité cible 4,0 / 5 (Géré) en 18 mois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" y="3611880"/>
            <a:ext cx="2020824" cy="868680"/>
          </a:xfrm>
          <a:prstGeom prst="roundRect">
            <a:avLst>
              <a:gd name="adj" fmla="val 8421"/>
            </a:avLst>
          </a:prstGeom>
          <a:solidFill>
            <a:srgbClr val="48F872"/>
          </a:solidFill>
          <a:ln w="12700">
            <a:solidFill>
              <a:srgbClr val="48F8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611880"/>
            <a:ext cx="2020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66160" y="3611880"/>
            <a:ext cx="2020824" cy="868680"/>
          </a:xfrm>
          <a:prstGeom prst="roundRect">
            <a:avLst>
              <a:gd name="adj" fmla="val 8421"/>
            </a:avLst>
          </a:prstGeom>
          <a:solidFill>
            <a:srgbClr val="48F872"/>
          </a:solidFill>
          <a:ln w="12700">
            <a:solidFill>
              <a:srgbClr val="48F8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11880"/>
            <a:ext cx="2020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47104" y="3611880"/>
            <a:ext cx="2020824" cy="868680"/>
          </a:xfrm>
          <a:prstGeom prst="roundRect">
            <a:avLst>
              <a:gd name="adj" fmla="val 8421"/>
            </a:avLst>
          </a:prstGeom>
          <a:solidFill>
            <a:srgbClr val="48F872"/>
          </a:solidFill>
          <a:ln w="12700">
            <a:solidFill>
              <a:srgbClr val="48F8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3611880"/>
            <a:ext cx="20208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137160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85216" y="3474720"/>
            <a:ext cx="79552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i="1">
                <a:solidFill>
                  <a:srgbClr val="0E3449"/>
                </a:solidFill>
                <a:latin typeface="Calibri"/>
                <a:ea typeface="Calibri"/>
                <a:cs typeface="Calibri"/>
              </a:rPr>
              <a:t>AIA - Selma ROCHET - Février 2026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03920" y="479145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20</cp:revision>
  <dcterms:created xsi:type="dcterms:W3CDTF">2026-06-06T15:39:00Z</dcterms:created>
  <dcterms:modified xsi:type="dcterms:W3CDTF">2026-06-06T15:44:14Z</dcterms:modified>
</cp:coreProperties>
</file>