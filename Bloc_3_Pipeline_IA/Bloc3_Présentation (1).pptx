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hx4WFQ0AIEp5IofHu+V1JC6tn0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5.xml"/><Relationship Id="rId22" Type="http://schemas.openxmlformats.org/officeDocument/2006/relationships/font" Target="fonts/Inter-boldItalic.fntdata"/><Relationship Id="rId10" Type="http://schemas.openxmlformats.org/officeDocument/2006/relationships/slide" Target="slides/slide4.xml"/><Relationship Id="rId21" Type="http://schemas.openxmlformats.org/officeDocument/2006/relationships/font" Target="fonts/Int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Inter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af49e2931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af49e29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af49e2931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af49e2931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af49e2931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eaf49e2931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af49e293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af49e293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af49e2931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af49e2931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bdbeead2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bdbeead2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f49e293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af49e293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f49e2931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eaf49e293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af49e2931_2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g3eaf49e2931_2_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3eaf49e2931_2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af49e2931_2_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g3eaf49e2931_2_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eaf49e2931_2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af49e2931_2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g3eaf49e2931_2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af49e2931_2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g3eaf49e2931_2_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g3eaf49e2931_2_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g3eaf49e2931_2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af49e2931_2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g3eaf49e2931_2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af49e2931_2_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g3eaf49e2931_2_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g3eaf49e2931_2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f49e2931_2_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g3eaf49e2931_2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af49e2931_2_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eaf49e2931_2_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g3eaf49e2931_2_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g3eaf49e2931_2_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g3eaf49e2931_2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af49e2931_2_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g3eaf49e2931_2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f49e2931_2_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g3eaf49e2931_2_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g3eaf49e2931_2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af49e2931_2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f49e2931_2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3eaf49e2931_2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3eaf49e2931_2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f49e2931_0_10"/>
          <p:cNvSpPr txBox="1"/>
          <p:nvPr>
            <p:ph type="ctrTitle"/>
          </p:nvPr>
        </p:nvSpPr>
        <p:spPr>
          <a:xfrm>
            <a:off x="735474" y="2062825"/>
            <a:ext cx="8012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3 – PipelineIA </a:t>
            </a:r>
            <a:endParaRPr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Fraud Détection project</a:t>
            </a:r>
            <a:endParaRPr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g3eaf49e2931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eaf49e2931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eaf49e2931_0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fr" sz="1600"/>
              <a:t>‹#›</a:t>
            </a:fld>
            <a:endParaRPr b="1" sz="1600"/>
          </a:p>
        </p:txBody>
      </p:sp>
      <p:sp>
        <p:nvSpPr>
          <p:cNvPr id="103" name="Google Shape;103;g3eaf49e2931_0_10"/>
          <p:cNvSpPr/>
          <p:nvPr/>
        </p:nvSpPr>
        <p:spPr>
          <a:xfrm>
            <a:off x="283709" y="4297514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AIA - Groupe 3 - Février 2026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eaf49e2931_2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eaf49e2931_2_51"/>
          <p:cNvSpPr txBox="1"/>
          <p:nvPr/>
        </p:nvSpPr>
        <p:spPr>
          <a:xfrm>
            <a:off x="1025550" y="167325"/>
            <a:ext cx="72972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fr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Comprendre et anticiper la fraude 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eaf49e2931_2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0750" y="727750"/>
            <a:ext cx="6207976" cy="34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eaf49e2931_2_51"/>
          <p:cNvSpPr txBox="1"/>
          <p:nvPr/>
        </p:nvSpPr>
        <p:spPr>
          <a:xfrm>
            <a:off x="1025550" y="4338850"/>
            <a:ext cx="67845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fr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Comment stopper la fraude bancaire en temps réel?</a:t>
            </a:r>
            <a:endParaRPr b="0" i="0" sz="2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eaf49e2931_2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eaf49e2931_2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875" y="1097700"/>
            <a:ext cx="8294949" cy="36937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eaf49e2931_2_58"/>
          <p:cNvSpPr txBox="1"/>
          <p:nvPr/>
        </p:nvSpPr>
        <p:spPr>
          <a:xfrm>
            <a:off x="821450" y="202500"/>
            <a:ext cx="391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fr" sz="2500" u="none" cap="none" strike="noStrike">
                <a:solidFill>
                  <a:srgbClr val="0E3449"/>
                </a:solidFill>
                <a:latin typeface="Arial"/>
                <a:ea typeface="Arial"/>
                <a:cs typeface="Arial"/>
                <a:sym typeface="Arial"/>
              </a:rPr>
              <a:t>Architecture du pipeline</a:t>
            </a:r>
            <a:r>
              <a:rPr b="0" i="0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eaf49e2931_2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eaf49e2931_2_64"/>
          <p:cNvSpPr txBox="1"/>
          <p:nvPr/>
        </p:nvSpPr>
        <p:spPr>
          <a:xfrm>
            <a:off x="940875" y="267525"/>
            <a:ext cx="22425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2500" u="none" cap="none" strike="noStrike">
                <a:solidFill>
                  <a:srgbClr val="0E3449"/>
                </a:solidFill>
                <a:latin typeface="Arial"/>
                <a:ea typeface="Arial"/>
                <a:cs typeface="Arial"/>
                <a:sym typeface="Arial"/>
              </a:rPr>
              <a:t>Modèle ML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g3eaf49e2931_2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050" y="1171575"/>
            <a:ext cx="736282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eaf49e2931_2_6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eaf49e2931_2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eaf49e2931_2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725" y="815500"/>
            <a:ext cx="8599067" cy="402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ebdbeead23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ebdbeead23_0_112"/>
          <p:cNvSpPr txBox="1"/>
          <p:nvPr/>
        </p:nvSpPr>
        <p:spPr>
          <a:xfrm>
            <a:off x="821450" y="312250"/>
            <a:ext cx="391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chemeClr val="dk1"/>
                </a:solidFill>
              </a:rPr>
              <a:t>Pipeline de Production </a:t>
            </a:r>
            <a:r>
              <a:rPr b="0" i="0" lang="f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ebdbeead23_0_112" title="terminal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00" y="880150"/>
            <a:ext cx="4092775" cy="279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ebdbeead23_0_112" title="pgadmi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8500" y="880150"/>
            <a:ext cx="4643099" cy="203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ebdbeead23_0_112" title="mail de fraud 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9838" y="2917800"/>
            <a:ext cx="2820425" cy="22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eaf49e2931_2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eaf49e2931_2_81"/>
          <p:cNvSpPr txBox="1"/>
          <p:nvPr/>
        </p:nvSpPr>
        <p:spPr>
          <a:xfrm>
            <a:off x="956575" y="243050"/>
            <a:ext cx="5418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fr" sz="2500" u="none" cap="none" strike="noStrike">
                <a:solidFill>
                  <a:srgbClr val="0E3449"/>
                </a:solidFill>
                <a:latin typeface="Arial"/>
                <a:ea typeface="Arial"/>
                <a:cs typeface="Arial"/>
                <a:sym typeface="Arial"/>
              </a:rPr>
              <a:t>Conclusion et Perspective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eaf49e2931_2_81"/>
          <p:cNvSpPr txBox="1"/>
          <p:nvPr/>
        </p:nvSpPr>
        <p:spPr>
          <a:xfrm>
            <a:off x="956575" y="899325"/>
            <a:ext cx="6230100" cy="15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Apport clés du modèle 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Mieux comprendre le risque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détecter la fraude sans bloquer inutilement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décider quand et ou agir en priorité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af49e2931_2_81"/>
          <p:cNvSpPr txBox="1"/>
          <p:nvPr/>
        </p:nvSpPr>
        <p:spPr>
          <a:xfrm>
            <a:off x="956575" y="2782925"/>
            <a:ext cx="6230100" cy="15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Evolution possibles 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Données enrichies et réelles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Détection de nouveaux comportements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ajustement automatique selon le profil client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af49e2931_0_3"/>
          <p:cNvSpPr txBox="1"/>
          <p:nvPr>
            <p:ph idx="4294967295" type="ctrTitle"/>
          </p:nvPr>
        </p:nvSpPr>
        <p:spPr>
          <a:xfrm>
            <a:off x="2014175" y="1805093"/>
            <a:ext cx="531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" sz="56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b="1" i="0" sz="56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5" name="Google Shape;155;g3eaf49e2931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eaf49e2931_0_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7" name="Google Shape;157;g3eaf49e2931_0_3"/>
          <p:cNvSpPr/>
          <p:nvPr/>
        </p:nvSpPr>
        <p:spPr>
          <a:xfrm>
            <a:off x="684809" y="4283339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AIA - Groupe 3 - Février 2026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